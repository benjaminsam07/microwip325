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6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F0F4A-FA6F-482F-9474-46548C84DB83}"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0B246-D5FB-48B4-B7D4-A80080C5879B}" type="slidenum">
              <a:rPr lang="en-US" smtClean="0"/>
              <a:t>‹#›</a:t>
            </a:fld>
            <a:endParaRPr lang="en-US"/>
          </a:p>
        </p:txBody>
      </p:sp>
    </p:spTree>
    <p:extLst>
      <p:ext uri="{BB962C8B-B14F-4D97-AF65-F5344CB8AC3E}">
        <p14:creationId xmlns:p14="http://schemas.microsoft.com/office/powerpoint/2010/main" val="2091564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585C5-81D8-4944-9B74-C0164855AC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16CB5-399F-4086-8DF3-3B4D41275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8C48C6-36E0-4058-AA25-5ADD3B9DFAD6}"/>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5" name="Footer Placeholder 4">
            <a:extLst>
              <a:ext uri="{FF2B5EF4-FFF2-40B4-BE49-F238E27FC236}">
                <a16:creationId xmlns:a16="http://schemas.microsoft.com/office/drawing/2014/main" id="{63F97742-4B84-468F-BE6C-95302B0A00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2FD15F-64E6-42C7-9AB9-121604B7B1C8}"/>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2679212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A7F4-4A79-4BB5-A937-A182F2D51E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0665D-6E63-4B00-9F68-FE98B7E48FB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4170C5-AF1B-4572-91D3-08B40F07D910}"/>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5" name="Footer Placeholder 4">
            <a:extLst>
              <a:ext uri="{FF2B5EF4-FFF2-40B4-BE49-F238E27FC236}">
                <a16:creationId xmlns:a16="http://schemas.microsoft.com/office/drawing/2014/main" id="{4F18302D-B1E3-448B-B9FB-E41D3034CF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D2DCD7-FA4C-4F94-A501-709DC668B456}"/>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2041524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8557E-4AFA-4B69-B8B6-813690A20A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B03FA6-4CB3-4B80-BD42-A8BE8D1249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0171A74-EC52-4AA8-8904-E5E6433C68D1}"/>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5" name="Footer Placeholder 4">
            <a:extLst>
              <a:ext uri="{FF2B5EF4-FFF2-40B4-BE49-F238E27FC236}">
                <a16:creationId xmlns:a16="http://schemas.microsoft.com/office/drawing/2014/main" id="{CA87BB4C-C552-4BC9-9ADE-F22BE22CA3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FA395-30D8-4618-B02A-1A3B85770231}"/>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1541747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742F-DB2B-44D4-B82A-015456DABA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9CCD81-5764-4CD9-8A95-FF812E8E830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AFF789-CBC1-4EE5-AF2B-C1988617818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A3F6F3-68B2-4347-BF7B-AD8C62AE6DAB}"/>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6" name="Footer Placeholder 5">
            <a:extLst>
              <a:ext uri="{FF2B5EF4-FFF2-40B4-BE49-F238E27FC236}">
                <a16:creationId xmlns:a16="http://schemas.microsoft.com/office/drawing/2014/main" id="{64BAD31F-81EA-4114-B5F5-E0BD2D56EF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008D5C-AC3B-4ED3-BFA6-8D29778C0153}"/>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4071905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0D231-8FDD-4429-810D-63C093E1E0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DE1D6-81A0-4B8C-9C34-FC383ABCBD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2D44173-D488-4750-BF73-FDB43AD7387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6E0BD-E160-4F07-A015-6344C4676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4CCA931-52FA-488E-91FE-84781E2EAF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62C4DC-1C09-4350-9617-B0B083D12F74}"/>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8" name="Footer Placeholder 7">
            <a:extLst>
              <a:ext uri="{FF2B5EF4-FFF2-40B4-BE49-F238E27FC236}">
                <a16:creationId xmlns:a16="http://schemas.microsoft.com/office/drawing/2014/main" id="{7FAAC668-0826-49C5-8122-BBC2F2C5F0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E98FAC-C930-430A-900A-307C83096A81}"/>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404683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3D490-C54C-4EC2-8750-DEC89C3E90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74CFF9-F2D5-40DF-A90C-0FC858466099}"/>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4" name="Footer Placeholder 3">
            <a:extLst>
              <a:ext uri="{FF2B5EF4-FFF2-40B4-BE49-F238E27FC236}">
                <a16:creationId xmlns:a16="http://schemas.microsoft.com/office/drawing/2014/main" id="{F5D7B8A7-99EA-48D0-8417-B4926C4031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0AEA14-6544-4A4F-BA82-906C0B4C8EEF}"/>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49195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B52AE4-4A6D-4CD2-8D8F-8A5ED5CA004B}"/>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3" name="Footer Placeholder 2">
            <a:extLst>
              <a:ext uri="{FF2B5EF4-FFF2-40B4-BE49-F238E27FC236}">
                <a16:creationId xmlns:a16="http://schemas.microsoft.com/office/drawing/2014/main" id="{397BE8E9-46FA-4870-9024-EA348C1836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449B47-17BE-4019-B121-3AF0F7031F68}"/>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1650530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CA8E-408E-4C46-9CFF-84AF45FF95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4B71AB-C7F4-4F54-96EF-15434B766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D45440-BE33-475F-9639-03C0B052F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4A96E20-274A-4DF1-8C9B-6DBE8DD49FD7}"/>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6" name="Footer Placeholder 5">
            <a:extLst>
              <a:ext uri="{FF2B5EF4-FFF2-40B4-BE49-F238E27FC236}">
                <a16:creationId xmlns:a16="http://schemas.microsoft.com/office/drawing/2014/main" id="{5F5DF1BA-6A25-409D-944B-C2499C5D3B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228EF4-C0E2-441A-8F0A-3624E305A5BF}"/>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14802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BFFBC-81DE-49D1-BA6D-0DF6D63ECA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9E560D-E141-49B6-BE38-F4BC9D3E4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760E3D-8AFC-4EFC-8A5C-0A9ECC7C0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B51D1BC-39BD-49BB-878B-415E1308E8B7}"/>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6" name="Footer Placeholder 5">
            <a:extLst>
              <a:ext uri="{FF2B5EF4-FFF2-40B4-BE49-F238E27FC236}">
                <a16:creationId xmlns:a16="http://schemas.microsoft.com/office/drawing/2014/main" id="{22C1274E-5F4A-4E55-8C35-773AD90559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3B0EFE-4791-49CC-8C65-C7DAB22DBA89}"/>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2956724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6BA8-CEB6-4FB0-9991-6FD141CAF5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699032-A97C-4231-B96A-A59115AFF75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3CD39-4DD9-4C64-BD3E-8EC393ACD6B4}"/>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5" name="Footer Placeholder 4">
            <a:extLst>
              <a:ext uri="{FF2B5EF4-FFF2-40B4-BE49-F238E27FC236}">
                <a16:creationId xmlns:a16="http://schemas.microsoft.com/office/drawing/2014/main" id="{BF5AD7A3-F725-4F19-86D3-8B364F04C8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95473C-5EF2-4C44-9E82-B058CBA7A8F9}"/>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4113435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2F0030-4651-4FCD-89D2-D9E3CB2458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658EFD-CB2B-46F8-AFA4-412D373F4A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882D1C-10BC-4CFC-B183-F458615E8F89}"/>
              </a:ext>
            </a:extLst>
          </p:cNvPr>
          <p:cNvSpPr>
            <a:spLocks noGrp="1"/>
          </p:cNvSpPr>
          <p:nvPr>
            <p:ph type="dt" sz="half" idx="10"/>
          </p:nvPr>
        </p:nvSpPr>
        <p:spPr/>
        <p:txBody>
          <a:bodyPr/>
          <a:lstStyle/>
          <a:p>
            <a:fld id="{76FBFAA6-8876-49BA-BAE8-E49B9E2F32D8}" type="datetimeFigureOut">
              <a:rPr lang="en-US" smtClean="0"/>
              <a:t>11/22/2025</a:t>
            </a:fld>
            <a:endParaRPr lang="en-US"/>
          </a:p>
        </p:txBody>
      </p:sp>
      <p:sp>
        <p:nvSpPr>
          <p:cNvPr id="5" name="Footer Placeholder 4">
            <a:extLst>
              <a:ext uri="{FF2B5EF4-FFF2-40B4-BE49-F238E27FC236}">
                <a16:creationId xmlns:a16="http://schemas.microsoft.com/office/drawing/2014/main" id="{ED244ECE-85B8-4187-8591-9E92C40EFC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09D90-C991-4E08-B93B-39C23F13CBCC}"/>
              </a:ext>
            </a:extLst>
          </p:cNvPr>
          <p:cNvSpPr>
            <a:spLocks noGrp="1"/>
          </p:cNvSpPr>
          <p:nvPr>
            <p:ph type="sldNum" sz="quarter" idx="12"/>
          </p:nvPr>
        </p:nvSpPr>
        <p:spPr/>
        <p:txBody>
          <a:bodyPr/>
          <a:lstStyle/>
          <a:p>
            <a:fld id="{51347C3D-B87C-4186-8B06-DFDE7535B6A5}" type="slidenum">
              <a:rPr lang="en-US" smtClean="0"/>
              <a:t>‹#›</a:t>
            </a:fld>
            <a:endParaRPr lang="en-US"/>
          </a:p>
        </p:txBody>
      </p:sp>
    </p:spTree>
    <p:extLst>
      <p:ext uri="{BB962C8B-B14F-4D97-AF65-F5344CB8AC3E}">
        <p14:creationId xmlns:p14="http://schemas.microsoft.com/office/powerpoint/2010/main" val="1156258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8EC6E-A5B0-446A-B00E-BD5B4FA47A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6D960A-9299-406F-9013-68E9F2BD65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B8059-AC9A-4243-AC40-5FA3630311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FBFAA6-8876-49BA-BAE8-E49B9E2F32D8}" type="datetimeFigureOut">
              <a:rPr lang="en-US" smtClean="0"/>
              <a:t>11/22/2025</a:t>
            </a:fld>
            <a:endParaRPr lang="en-US"/>
          </a:p>
        </p:txBody>
      </p:sp>
      <p:sp>
        <p:nvSpPr>
          <p:cNvPr id="5" name="Footer Placeholder 4">
            <a:extLst>
              <a:ext uri="{FF2B5EF4-FFF2-40B4-BE49-F238E27FC236}">
                <a16:creationId xmlns:a16="http://schemas.microsoft.com/office/drawing/2014/main" id="{1FEB0EFA-6B96-4E31-96C6-7867946D3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B275A7-57F4-404C-B47F-6F0BC020AB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47C3D-B87C-4186-8B06-DFDE7535B6A5}" type="slidenum">
              <a:rPr lang="en-US" smtClean="0"/>
              <a:t>‹#›</a:t>
            </a:fld>
            <a:endParaRPr lang="en-US"/>
          </a:p>
        </p:txBody>
      </p:sp>
    </p:spTree>
    <p:extLst>
      <p:ext uri="{BB962C8B-B14F-4D97-AF65-F5344CB8AC3E}">
        <p14:creationId xmlns:p14="http://schemas.microsoft.com/office/powerpoint/2010/main" val="1984950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A1F12-B91C-4810-8097-359D023AD2F7}"/>
              </a:ext>
            </a:extLst>
          </p:cNvPr>
          <p:cNvSpPr>
            <a:spLocks noGrp="1"/>
          </p:cNvSpPr>
          <p:nvPr>
            <p:ph type="ctrTitle"/>
          </p:nvPr>
        </p:nvSpPr>
        <p:spPr>
          <a:xfrm>
            <a:off x="4828979" y="2154192"/>
            <a:ext cx="7148946" cy="1832920"/>
          </a:xfrm>
        </p:spPr>
        <p:txBody>
          <a:bodyPr anchor="t">
            <a:noAutofit/>
          </a:bodyPr>
          <a:lstStyle/>
          <a:p>
            <a:r>
              <a:rPr lang="en-US" sz="3200" b="1" dirty="0">
                <a:latin typeface="+mn-lt"/>
              </a:rPr>
              <a:t>MicroWIP325: A Low-Area Architectural Design and Analysis of Processors for Wearable Technologies.</a:t>
            </a:r>
            <a:br>
              <a:rPr lang="en-US" b="1" dirty="0"/>
            </a:br>
            <a:endParaRPr lang="en-US" sz="4000" b="1" dirty="0">
              <a:solidFill>
                <a:schemeClr val="tx2"/>
              </a:solidFill>
            </a:endParaRPr>
          </a:p>
        </p:txBody>
      </p:sp>
      <p:sp>
        <p:nvSpPr>
          <p:cNvPr id="3" name="Subtitle 2">
            <a:extLst>
              <a:ext uri="{FF2B5EF4-FFF2-40B4-BE49-F238E27FC236}">
                <a16:creationId xmlns:a16="http://schemas.microsoft.com/office/drawing/2014/main" id="{A61B5318-174A-4F81-BC5C-7B2535BA74E8}"/>
              </a:ext>
            </a:extLst>
          </p:cNvPr>
          <p:cNvSpPr>
            <a:spLocks noGrp="1"/>
          </p:cNvSpPr>
          <p:nvPr>
            <p:ph type="subTitle" idx="1"/>
          </p:nvPr>
        </p:nvSpPr>
        <p:spPr>
          <a:xfrm>
            <a:off x="192963" y="3423023"/>
            <a:ext cx="5125637" cy="1481900"/>
          </a:xfrm>
        </p:spPr>
        <p:txBody>
          <a:bodyPr anchor="b">
            <a:normAutofit/>
          </a:bodyPr>
          <a:lstStyle/>
          <a:p>
            <a:r>
              <a:rPr lang="en-US" sz="2000" dirty="0">
                <a:solidFill>
                  <a:schemeClr val="tx2"/>
                </a:solidFill>
              </a:rPr>
              <a:t>INTERNATIONAL CONFERENCE ON COMMUNICATION, COMPUTING AND INTERNET OF THINGS</a:t>
            </a:r>
          </a:p>
          <a:p>
            <a:r>
              <a:rPr lang="en-US" sz="2000" b="1" dirty="0">
                <a:solidFill>
                  <a:schemeClr val="tx2"/>
                </a:solidFill>
              </a:rPr>
              <a:t>IC3IoT 2022</a:t>
            </a:r>
          </a:p>
        </p:txBody>
      </p:sp>
      <p:pic>
        <p:nvPicPr>
          <p:cNvPr id="1026" name="Picture 2" descr="File:Ieee blue.jpg - Wikimedia Commons">
            <a:extLst>
              <a:ext uri="{FF2B5EF4-FFF2-40B4-BE49-F238E27FC236}">
                <a16:creationId xmlns:a16="http://schemas.microsoft.com/office/drawing/2014/main" id="{FED79C60-9E4F-4FE8-BF46-DBA2C5E30A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57771" y="2532329"/>
            <a:ext cx="2796020" cy="99957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grpSp>
        <p:nvGrpSpPr>
          <p:cNvPr id="75" name="Group 7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76" name="Freeform: Shape 7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Freeform: Shape 7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Rectangle 3">
            <a:extLst>
              <a:ext uri="{FF2B5EF4-FFF2-40B4-BE49-F238E27FC236}">
                <a16:creationId xmlns:a16="http://schemas.microsoft.com/office/drawing/2014/main" id="{A8E40200-4075-44C6-B09A-9AF8A2983B7F}"/>
              </a:ext>
            </a:extLst>
          </p:cNvPr>
          <p:cNvSpPr/>
          <p:nvPr/>
        </p:nvSpPr>
        <p:spPr>
          <a:xfrm>
            <a:off x="7176802" y="3511999"/>
            <a:ext cx="2453300" cy="369332"/>
          </a:xfrm>
          <a:prstGeom prst="rect">
            <a:avLst/>
          </a:prstGeom>
        </p:spPr>
        <p:txBody>
          <a:bodyPr wrap="none">
            <a:spAutoFit/>
          </a:bodyPr>
          <a:lstStyle/>
          <a:p>
            <a:r>
              <a:rPr lang="en-US" b="1" dirty="0"/>
              <a:t>PAPER ID</a:t>
            </a:r>
            <a:r>
              <a:rPr lang="en-US" dirty="0"/>
              <a:t>:  IC3IoT22128 </a:t>
            </a:r>
          </a:p>
        </p:txBody>
      </p:sp>
      <p:sp>
        <p:nvSpPr>
          <p:cNvPr id="13" name="Title 1">
            <a:extLst>
              <a:ext uri="{FF2B5EF4-FFF2-40B4-BE49-F238E27FC236}">
                <a16:creationId xmlns:a16="http://schemas.microsoft.com/office/drawing/2014/main" id="{924F9D0D-AC6F-43E9-8365-B21349E2EA30}"/>
              </a:ext>
            </a:extLst>
          </p:cNvPr>
          <p:cNvSpPr txBox="1">
            <a:spLocks/>
          </p:cNvSpPr>
          <p:nvPr/>
        </p:nvSpPr>
        <p:spPr>
          <a:xfrm>
            <a:off x="4828979" y="4847796"/>
            <a:ext cx="7148946" cy="1832921"/>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1600" b="1" dirty="0">
                <a:latin typeface="+mn-lt"/>
              </a:rPr>
              <a:t>AUTHORS: </a:t>
            </a:r>
          </a:p>
          <a:p>
            <a:pPr algn="r"/>
            <a:r>
              <a:rPr lang="en-US" sz="1600" dirty="0">
                <a:latin typeface="+mn-lt"/>
              </a:rPr>
              <a:t>Dr. </a:t>
            </a:r>
            <a:r>
              <a:rPr lang="en-US" sz="1600" dirty="0" err="1">
                <a:latin typeface="+mn-lt"/>
              </a:rPr>
              <a:t>Arthi</a:t>
            </a:r>
            <a:r>
              <a:rPr lang="en-US" sz="1600" dirty="0">
                <a:latin typeface="+mn-lt"/>
              </a:rPr>
              <a:t> R.</a:t>
            </a:r>
          </a:p>
          <a:p>
            <a:pPr algn="r"/>
            <a:r>
              <a:rPr lang="en-US" sz="1600" dirty="0">
                <a:latin typeface="+mn-lt"/>
              </a:rPr>
              <a:t>Benjamin George Samuel </a:t>
            </a:r>
          </a:p>
          <a:p>
            <a:pPr algn="r"/>
            <a:r>
              <a:rPr lang="en-US" sz="1600" dirty="0">
                <a:latin typeface="+mn-lt"/>
              </a:rPr>
              <a:t>Deepak Shankar R.</a:t>
            </a:r>
          </a:p>
          <a:p>
            <a:pPr algn="r"/>
            <a:r>
              <a:rPr lang="en-US" sz="1600" dirty="0" err="1">
                <a:latin typeface="+mn-lt"/>
              </a:rPr>
              <a:t>Aparnna</a:t>
            </a:r>
            <a:r>
              <a:rPr lang="en-US" sz="1600" dirty="0">
                <a:latin typeface="+mn-lt"/>
              </a:rPr>
              <a:t> Ajay</a:t>
            </a:r>
          </a:p>
          <a:p>
            <a:pPr algn="r"/>
            <a:endParaRPr lang="en-US" sz="1600" b="1" i="1" dirty="0">
              <a:latin typeface="+mn-lt"/>
            </a:endParaRPr>
          </a:p>
          <a:p>
            <a:pPr algn="r"/>
            <a:r>
              <a:rPr lang="en-US" sz="1600" b="1" i="1" dirty="0">
                <a:latin typeface="+mn-lt"/>
              </a:rPr>
              <a:t>SRM Institute of Science &amp; Technology </a:t>
            </a:r>
          </a:p>
          <a:p>
            <a:pPr algn="r"/>
            <a:r>
              <a:rPr lang="en-US" sz="1600" b="1" i="1" dirty="0">
                <a:latin typeface="+mn-lt"/>
              </a:rPr>
              <a:t>Ramapuram - Chennai</a:t>
            </a:r>
            <a:endParaRPr lang="en-US" sz="2000" b="1" i="1" dirty="0">
              <a:solidFill>
                <a:schemeClr val="tx2"/>
              </a:solidFill>
            </a:endParaRPr>
          </a:p>
        </p:txBody>
      </p:sp>
    </p:spTree>
    <p:extLst>
      <p:ext uri="{BB962C8B-B14F-4D97-AF65-F5344CB8AC3E}">
        <p14:creationId xmlns:p14="http://schemas.microsoft.com/office/powerpoint/2010/main" val="801295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B66587-5010-4781-9D53-730CF1B3A6F6}"/>
              </a:ext>
            </a:extLst>
          </p:cNvPr>
          <p:cNvSpPr>
            <a:spLocks noGrp="1"/>
          </p:cNvSpPr>
          <p:nvPr>
            <p:ph type="title"/>
          </p:nvPr>
        </p:nvSpPr>
        <p:spPr>
          <a:xfrm>
            <a:off x="246292" y="2798656"/>
            <a:ext cx="4876313" cy="977983"/>
          </a:xfrm>
        </p:spPr>
        <p:txBody>
          <a:bodyPr anchor="b">
            <a:normAutofit/>
          </a:bodyPr>
          <a:lstStyle/>
          <a:p>
            <a:pPr algn="r"/>
            <a:r>
              <a:rPr lang="en-US" sz="4000" b="1" dirty="0">
                <a:solidFill>
                  <a:srgbClr val="FFFFFF"/>
                </a:solidFill>
                <a:latin typeface="+mn-lt"/>
              </a:rPr>
              <a:t>CONTENTS</a:t>
            </a:r>
          </a:p>
        </p:txBody>
      </p:sp>
      <p:sp>
        <p:nvSpPr>
          <p:cNvPr id="3" name="Content Placeholder 2">
            <a:extLst>
              <a:ext uri="{FF2B5EF4-FFF2-40B4-BE49-F238E27FC236}">
                <a16:creationId xmlns:a16="http://schemas.microsoft.com/office/drawing/2014/main" id="{EEE4ADDE-3F1F-472C-A09D-BA6616BEF3F3}"/>
              </a:ext>
            </a:extLst>
          </p:cNvPr>
          <p:cNvSpPr>
            <a:spLocks noGrp="1"/>
          </p:cNvSpPr>
          <p:nvPr>
            <p:ph idx="1"/>
          </p:nvPr>
        </p:nvSpPr>
        <p:spPr>
          <a:xfrm>
            <a:off x="6213194" y="737537"/>
            <a:ext cx="5152412" cy="5457990"/>
          </a:xfrm>
        </p:spPr>
        <p:txBody>
          <a:bodyPr anchor="ctr">
            <a:normAutofit/>
          </a:bodyPr>
          <a:lstStyle/>
          <a:p>
            <a:r>
              <a:rPr lang="en-US" sz="2400" dirty="0"/>
              <a:t>Abstract  </a:t>
            </a:r>
          </a:p>
          <a:p>
            <a:r>
              <a:rPr lang="en-US" sz="2400" dirty="0"/>
              <a:t>Introduction</a:t>
            </a:r>
          </a:p>
          <a:p>
            <a:r>
              <a:rPr lang="en-US" sz="2400" dirty="0"/>
              <a:t>System Architecture</a:t>
            </a:r>
          </a:p>
          <a:p>
            <a:r>
              <a:rPr lang="en-US" sz="2400" dirty="0"/>
              <a:t>Hardware Design and Development</a:t>
            </a:r>
          </a:p>
          <a:p>
            <a:r>
              <a:rPr lang="en-US" sz="2400" dirty="0"/>
              <a:t>Conclusion and Future Scope</a:t>
            </a:r>
          </a:p>
          <a:p>
            <a:endParaRPr lang="en-US" sz="2000" cap="small" dirty="0">
              <a:effectLst>
                <a:outerShdw sx="0" sy="0">
                  <a:srgbClr val="000000"/>
                </a:outerShdw>
              </a:effectLst>
            </a:endParaRPr>
          </a:p>
          <a:p>
            <a:endParaRPr lang="en-US" sz="2000" dirty="0"/>
          </a:p>
        </p:txBody>
      </p:sp>
      <p:pic>
        <p:nvPicPr>
          <p:cNvPr id="15" name="Picture 2" descr="File:Ieee blue.jpg - Wikimedia Commons">
            <a:extLst>
              <a:ext uri="{FF2B5EF4-FFF2-40B4-BE49-F238E27FC236}">
                <a16:creationId xmlns:a16="http://schemas.microsoft.com/office/drawing/2014/main" id="{5489412A-9383-41E4-B638-148169378F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38855" y="5816154"/>
            <a:ext cx="1892926" cy="676721"/>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634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D350-88F5-48EB-B6D2-E0CB9E684B70}"/>
              </a:ext>
            </a:extLst>
          </p:cNvPr>
          <p:cNvSpPr>
            <a:spLocks noGrp="1"/>
          </p:cNvSpPr>
          <p:nvPr>
            <p:ph type="title"/>
          </p:nvPr>
        </p:nvSpPr>
        <p:spPr>
          <a:xfrm>
            <a:off x="838200" y="347191"/>
            <a:ext cx="10515600" cy="1325563"/>
          </a:xfrm>
        </p:spPr>
        <p:txBody>
          <a:bodyPr>
            <a:normAutofit/>
          </a:bodyPr>
          <a:lstStyle/>
          <a:p>
            <a:pPr algn="ctr"/>
            <a:r>
              <a:rPr lang="en-US" sz="4000" b="1" dirty="0">
                <a:latin typeface="+mn-lt"/>
              </a:rPr>
              <a:t>ABSTRACT</a:t>
            </a:r>
          </a:p>
        </p:txBody>
      </p:sp>
      <p:sp>
        <p:nvSpPr>
          <p:cNvPr id="3" name="Content Placeholder 2">
            <a:extLst>
              <a:ext uri="{FF2B5EF4-FFF2-40B4-BE49-F238E27FC236}">
                <a16:creationId xmlns:a16="http://schemas.microsoft.com/office/drawing/2014/main" id="{B2362B15-8EC5-417E-AB70-A662E4A56548}"/>
              </a:ext>
            </a:extLst>
          </p:cNvPr>
          <p:cNvSpPr>
            <a:spLocks noGrp="1"/>
          </p:cNvSpPr>
          <p:nvPr>
            <p:ph idx="1"/>
          </p:nvPr>
        </p:nvSpPr>
        <p:spPr>
          <a:xfrm>
            <a:off x="674254" y="1690688"/>
            <a:ext cx="11157527" cy="4625254"/>
          </a:xfrm>
        </p:spPr>
        <p:txBody>
          <a:bodyPr>
            <a:normAutofit/>
          </a:bodyPr>
          <a:lstStyle/>
          <a:p>
            <a:r>
              <a:rPr lang="en-US" sz="2000" dirty="0"/>
              <a:t>With the rise of smart wearables came the need for </a:t>
            </a:r>
            <a:r>
              <a:rPr lang="en-US" sz="2000" b="1" dirty="0"/>
              <a:t>very high processing power</a:t>
            </a:r>
            <a:r>
              <a:rPr lang="en-US" sz="2000" dirty="0"/>
              <a:t> built into devices of </a:t>
            </a:r>
            <a:r>
              <a:rPr lang="en-US" sz="2000" b="1" dirty="0"/>
              <a:t>small area </a:t>
            </a:r>
            <a:r>
              <a:rPr lang="en-US" sz="2000" dirty="0"/>
              <a:t>as the size of your wrist. </a:t>
            </a:r>
          </a:p>
          <a:p>
            <a:r>
              <a:rPr lang="en-US" sz="2000" b="1" dirty="0"/>
              <a:t>MicroWIP325</a:t>
            </a:r>
            <a:r>
              <a:rPr lang="en-US" sz="2000" dirty="0"/>
              <a:t> stands</a:t>
            </a:r>
            <a:r>
              <a:rPr lang="en-US" sz="2000" b="1" dirty="0"/>
              <a:t> </a:t>
            </a:r>
            <a:r>
              <a:rPr lang="en-US" sz="2000" dirty="0"/>
              <a:t>for </a:t>
            </a:r>
            <a:r>
              <a:rPr lang="en-US" sz="2000" b="1" dirty="0"/>
              <a:t>32</a:t>
            </a:r>
            <a:r>
              <a:rPr lang="en-US" sz="2000" dirty="0"/>
              <a:t>-bit </a:t>
            </a:r>
            <a:r>
              <a:rPr lang="en-US" sz="2000" b="1" dirty="0"/>
              <a:t>Micro</a:t>
            </a:r>
            <a:r>
              <a:rPr lang="en-US" sz="2000" dirty="0"/>
              <a:t>processor </a:t>
            </a:r>
            <a:r>
              <a:rPr lang="en-US" sz="2000" b="1" dirty="0"/>
              <a:t>W</a:t>
            </a:r>
            <a:r>
              <a:rPr lang="en-US" sz="2000" dirty="0"/>
              <a:t>ithout </a:t>
            </a:r>
            <a:r>
              <a:rPr lang="en-US" sz="2000" b="1" dirty="0"/>
              <a:t>I</a:t>
            </a:r>
            <a:r>
              <a:rPr lang="en-US" sz="2000" dirty="0"/>
              <a:t>nterlocked </a:t>
            </a:r>
            <a:r>
              <a:rPr lang="en-US" sz="2000" b="1" dirty="0"/>
              <a:t>5</a:t>
            </a:r>
            <a:r>
              <a:rPr lang="en-US" sz="2000" dirty="0"/>
              <a:t> - </a:t>
            </a:r>
            <a:r>
              <a:rPr lang="en-US" sz="2000" b="1" dirty="0"/>
              <a:t>P</a:t>
            </a:r>
            <a:r>
              <a:rPr lang="en-US" sz="2000" dirty="0"/>
              <a:t>ipelines.</a:t>
            </a:r>
          </a:p>
          <a:p>
            <a:r>
              <a:rPr lang="en-US" sz="2000" dirty="0"/>
              <a:t>As of April 2017, MIPS32 Release 6 Architecture is existent and several authors have implemented this architectural design and also previous releases of MIPS in Field Programmable Gate Arrays (FPGA) such as Spartan – 03E, Spartan – 6. </a:t>
            </a:r>
          </a:p>
          <a:p>
            <a:r>
              <a:rPr lang="en-US" sz="2000" dirty="0"/>
              <a:t>Through this paper we are focusing on the </a:t>
            </a:r>
            <a:r>
              <a:rPr lang="en-US" sz="2000" b="1" dirty="0"/>
              <a:t>feasibility of hardware execution </a:t>
            </a:r>
            <a:r>
              <a:rPr lang="en-US" sz="2000" dirty="0"/>
              <a:t>within the design space requirements of </a:t>
            </a:r>
            <a:r>
              <a:rPr lang="en-US" sz="2000" b="1" dirty="0"/>
              <a:t>Xilinx Spartan – 07 (XC7S100-676FGGA-2) </a:t>
            </a:r>
            <a:r>
              <a:rPr lang="en-US" sz="2000" dirty="0"/>
              <a:t>FPGA and </a:t>
            </a:r>
            <a:r>
              <a:rPr lang="en-US" sz="2000" b="1" dirty="0"/>
              <a:t>Intel Cyclone V-E (5CEFA7F31C8N) </a:t>
            </a:r>
            <a:r>
              <a:rPr lang="en-US" sz="2000" dirty="0"/>
              <a:t>FPGA, both of which are built using </a:t>
            </a:r>
            <a:r>
              <a:rPr lang="en-US" sz="2000" b="1" dirty="0"/>
              <a:t>28nm technology </a:t>
            </a:r>
            <a:r>
              <a:rPr lang="en-US" sz="2000" dirty="0"/>
              <a:t>on a comparative study basis for the purpose of </a:t>
            </a:r>
            <a:r>
              <a:rPr lang="en-US" sz="2000" b="1" dirty="0"/>
              <a:t>marking out design trade-offs </a:t>
            </a:r>
            <a:r>
              <a:rPr lang="en-US" sz="2000" dirty="0"/>
              <a:t>between </a:t>
            </a:r>
            <a:r>
              <a:rPr lang="en-US" sz="2000" b="1" dirty="0"/>
              <a:t>performance</a:t>
            </a:r>
            <a:r>
              <a:rPr lang="en-US" sz="2000" dirty="0"/>
              <a:t> and </a:t>
            </a:r>
            <a:r>
              <a:rPr lang="en-US" sz="2000" b="1" dirty="0"/>
              <a:t>synthesized area</a:t>
            </a:r>
            <a:r>
              <a:rPr lang="en-US" sz="2000" dirty="0"/>
              <a:t>. </a:t>
            </a:r>
          </a:p>
        </p:txBody>
      </p:sp>
      <p:pic>
        <p:nvPicPr>
          <p:cNvPr id="4" name="Picture 2" descr="File:Ieee blue.jpg - Wikimedia Commons">
            <a:extLst>
              <a:ext uri="{FF2B5EF4-FFF2-40B4-BE49-F238E27FC236}">
                <a16:creationId xmlns:a16="http://schemas.microsoft.com/office/drawing/2014/main" id="{04BEC60D-16D8-41D8-89A6-779B601702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38855" y="5816154"/>
            <a:ext cx="1892926" cy="676721"/>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95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D350-88F5-48EB-B6D2-E0CB9E684B70}"/>
              </a:ext>
            </a:extLst>
          </p:cNvPr>
          <p:cNvSpPr>
            <a:spLocks noGrp="1"/>
          </p:cNvSpPr>
          <p:nvPr>
            <p:ph type="title"/>
          </p:nvPr>
        </p:nvSpPr>
        <p:spPr>
          <a:xfrm>
            <a:off x="838199" y="365125"/>
            <a:ext cx="10515600" cy="1325563"/>
          </a:xfrm>
        </p:spPr>
        <p:txBody>
          <a:bodyPr>
            <a:normAutofit/>
          </a:bodyPr>
          <a:lstStyle/>
          <a:p>
            <a:pPr algn="ctr"/>
            <a:r>
              <a:rPr lang="en-US" sz="4000" b="1" dirty="0">
                <a:latin typeface="+mn-lt"/>
              </a:rPr>
              <a:t>OBJECTIVE</a:t>
            </a:r>
          </a:p>
        </p:txBody>
      </p:sp>
      <p:sp>
        <p:nvSpPr>
          <p:cNvPr id="3" name="Content Placeholder 2">
            <a:extLst>
              <a:ext uri="{FF2B5EF4-FFF2-40B4-BE49-F238E27FC236}">
                <a16:creationId xmlns:a16="http://schemas.microsoft.com/office/drawing/2014/main" id="{B2362B15-8EC5-417E-AB70-A662E4A56548}"/>
              </a:ext>
            </a:extLst>
          </p:cNvPr>
          <p:cNvSpPr>
            <a:spLocks noGrp="1"/>
          </p:cNvSpPr>
          <p:nvPr>
            <p:ph idx="1"/>
          </p:nvPr>
        </p:nvSpPr>
        <p:spPr>
          <a:xfrm>
            <a:off x="517236" y="2033043"/>
            <a:ext cx="11157527" cy="3440756"/>
          </a:xfrm>
        </p:spPr>
        <p:txBody>
          <a:bodyPr>
            <a:normAutofit/>
          </a:bodyPr>
          <a:lstStyle/>
          <a:p>
            <a:r>
              <a:rPr lang="en-US" sz="2000" dirty="0"/>
              <a:t>Comprehension on a </a:t>
            </a:r>
            <a:r>
              <a:rPr lang="en-US" sz="2000" b="1" dirty="0"/>
              <a:t>Hardware Device</a:t>
            </a:r>
            <a:r>
              <a:rPr lang="en-US" sz="2000" dirty="0"/>
              <a:t> perspective through findings such as :</a:t>
            </a:r>
          </a:p>
          <a:p>
            <a:pPr lvl="1"/>
            <a:r>
              <a:rPr lang="en-US" sz="2000" dirty="0"/>
              <a:t>Simulations Reports</a:t>
            </a:r>
          </a:p>
          <a:p>
            <a:pPr lvl="1"/>
            <a:r>
              <a:rPr lang="en-US" sz="2000" dirty="0"/>
              <a:t>Synthesis Reports</a:t>
            </a:r>
          </a:p>
          <a:p>
            <a:pPr lvl="1"/>
            <a:r>
              <a:rPr lang="en-US" sz="2000" dirty="0"/>
              <a:t>Implementation Reports.</a:t>
            </a:r>
          </a:p>
          <a:p>
            <a:r>
              <a:rPr lang="en-US" sz="2000" dirty="0"/>
              <a:t>Ease of Access of tools such as </a:t>
            </a:r>
            <a:r>
              <a:rPr lang="en-US" sz="2000" b="1" dirty="0"/>
              <a:t>Xilinx Vivado </a:t>
            </a:r>
            <a:r>
              <a:rPr lang="en-US" sz="2000" dirty="0"/>
              <a:t>and </a:t>
            </a:r>
            <a:r>
              <a:rPr lang="en-US" sz="2000" b="1" dirty="0"/>
              <a:t>Intel Quartus Prime</a:t>
            </a:r>
            <a:r>
              <a:rPr lang="en-US" sz="2000" dirty="0"/>
              <a:t>:</a:t>
            </a:r>
          </a:p>
          <a:p>
            <a:pPr lvl="1"/>
            <a:r>
              <a:rPr lang="en-US" sz="2000" dirty="0"/>
              <a:t>Timing Analysis.</a:t>
            </a:r>
          </a:p>
          <a:p>
            <a:pPr lvl="1"/>
            <a:r>
              <a:rPr lang="en-US" sz="2000" dirty="0"/>
              <a:t>Power Analysis.</a:t>
            </a:r>
          </a:p>
          <a:p>
            <a:r>
              <a:rPr lang="en-US" sz="2000" dirty="0"/>
              <a:t>Guiding engineers and researchers for the future development of classical </a:t>
            </a:r>
            <a:r>
              <a:rPr lang="en-US" sz="2000" b="1" dirty="0"/>
              <a:t>MIPS</a:t>
            </a:r>
            <a:r>
              <a:rPr lang="en-US" sz="2000" dirty="0"/>
              <a:t> to realize the superior system for </a:t>
            </a:r>
            <a:r>
              <a:rPr lang="en-US" sz="2000" b="1" dirty="0"/>
              <a:t>next-generation wearable devices </a:t>
            </a:r>
            <a:r>
              <a:rPr lang="en-US" sz="2000" dirty="0"/>
              <a:t>through this paper.</a:t>
            </a:r>
          </a:p>
          <a:p>
            <a:endParaRPr lang="en-US" sz="2000" dirty="0"/>
          </a:p>
        </p:txBody>
      </p:sp>
      <p:pic>
        <p:nvPicPr>
          <p:cNvPr id="4" name="Picture 2" descr="File:Ieee blue.jpg - Wikimedia Commons">
            <a:extLst>
              <a:ext uri="{FF2B5EF4-FFF2-40B4-BE49-F238E27FC236}">
                <a16:creationId xmlns:a16="http://schemas.microsoft.com/office/drawing/2014/main" id="{04BEC60D-16D8-41D8-89A6-779B601702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38855" y="5816154"/>
            <a:ext cx="1892926" cy="676721"/>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823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D350-88F5-48EB-B6D2-E0CB9E684B70}"/>
              </a:ext>
            </a:extLst>
          </p:cNvPr>
          <p:cNvSpPr>
            <a:spLocks noGrp="1"/>
          </p:cNvSpPr>
          <p:nvPr>
            <p:ph type="title"/>
          </p:nvPr>
        </p:nvSpPr>
        <p:spPr>
          <a:xfrm>
            <a:off x="838200" y="365125"/>
            <a:ext cx="10515600" cy="1325563"/>
          </a:xfrm>
        </p:spPr>
        <p:txBody>
          <a:bodyPr>
            <a:normAutofit/>
          </a:bodyPr>
          <a:lstStyle/>
          <a:p>
            <a:pPr algn="ctr"/>
            <a:r>
              <a:rPr lang="en-US" sz="4000" b="1" dirty="0">
                <a:latin typeface="+mn-lt"/>
              </a:rPr>
              <a:t>INTRODUCTION</a:t>
            </a:r>
          </a:p>
        </p:txBody>
      </p:sp>
      <p:sp>
        <p:nvSpPr>
          <p:cNvPr id="3" name="Content Placeholder 2">
            <a:extLst>
              <a:ext uri="{FF2B5EF4-FFF2-40B4-BE49-F238E27FC236}">
                <a16:creationId xmlns:a16="http://schemas.microsoft.com/office/drawing/2014/main" id="{B2362B15-8EC5-417E-AB70-A662E4A56548}"/>
              </a:ext>
            </a:extLst>
          </p:cNvPr>
          <p:cNvSpPr>
            <a:spLocks noGrp="1"/>
          </p:cNvSpPr>
          <p:nvPr>
            <p:ph idx="1"/>
          </p:nvPr>
        </p:nvSpPr>
        <p:spPr>
          <a:xfrm>
            <a:off x="494146" y="2135950"/>
            <a:ext cx="11203708" cy="3465470"/>
          </a:xfrm>
        </p:spPr>
        <p:txBody>
          <a:bodyPr>
            <a:normAutofit/>
          </a:bodyPr>
          <a:lstStyle/>
          <a:p>
            <a:r>
              <a:rPr lang="en-US" sz="1800" dirty="0"/>
              <a:t>Moore’s Law &amp; Chip-Manufacturing Trends.</a:t>
            </a:r>
          </a:p>
          <a:p>
            <a:r>
              <a:rPr lang="en-US" sz="1800" dirty="0"/>
              <a:t>Focus on Two Devices:</a:t>
            </a:r>
          </a:p>
          <a:p>
            <a:pPr lvl="1"/>
            <a:r>
              <a:rPr lang="en-US" sz="1800" dirty="0"/>
              <a:t>Xilinx’ Gen-IV 28nm ASMBL </a:t>
            </a:r>
            <a:r>
              <a:rPr lang="en-US" sz="1800" b="1" dirty="0"/>
              <a:t>7-Series</a:t>
            </a:r>
            <a:r>
              <a:rPr lang="en-US" sz="1800" dirty="0"/>
              <a:t> FPGA.</a:t>
            </a:r>
          </a:p>
          <a:p>
            <a:pPr lvl="2"/>
            <a:r>
              <a:rPr lang="en-US" sz="1800" b="1" i="1" dirty="0"/>
              <a:t>Four 6-input Look Up Tables (LUTs) </a:t>
            </a:r>
            <a:r>
              <a:rPr lang="en-US" sz="1800" dirty="0"/>
              <a:t>followed by </a:t>
            </a:r>
            <a:r>
              <a:rPr lang="en-US" sz="1800" b="1" i="1" dirty="0"/>
              <a:t>Eight Registers </a:t>
            </a:r>
            <a:r>
              <a:rPr lang="en-US" sz="1800" dirty="0"/>
              <a:t>within a slice inside </a:t>
            </a:r>
            <a:r>
              <a:rPr lang="en-US" sz="1800" b="1" dirty="0"/>
              <a:t>a Configurable Logic Block (CLB)</a:t>
            </a:r>
          </a:p>
          <a:p>
            <a:pPr lvl="1"/>
            <a:r>
              <a:rPr lang="en-US" sz="1800" dirty="0"/>
              <a:t>Intel’s 28nm ALM </a:t>
            </a:r>
            <a:r>
              <a:rPr lang="en-US" sz="1800" b="1" dirty="0"/>
              <a:t>Cyclone – V E</a:t>
            </a:r>
            <a:r>
              <a:rPr lang="en-US" sz="1800" dirty="0"/>
              <a:t> FPGA.</a:t>
            </a:r>
          </a:p>
          <a:p>
            <a:pPr lvl="1"/>
            <a:r>
              <a:rPr lang="en-US" sz="1800" b="1" i="1" dirty="0"/>
              <a:t>8-input fracturable Adaptive LUT (ALUT)</a:t>
            </a:r>
            <a:r>
              <a:rPr lang="en-US" sz="1800" b="1" dirty="0"/>
              <a:t> </a:t>
            </a:r>
            <a:r>
              <a:rPr lang="en-US" sz="1800" dirty="0"/>
              <a:t>with </a:t>
            </a:r>
            <a:r>
              <a:rPr lang="en-US" sz="1800" b="1" i="1" dirty="0"/>
              <a:t>Four Registers </a:t>
            </a:r>
            <a:r>
              <a:rPr lang="en-US" sz="1800" dirty="0"/>
              <a:t>inside a CLB also known as a </a:t>
            </a:r>
            <a:r>
              <a:rPr lang="en-US" sz="1800" i="1" dirty="0"/>
              <a:t>Logic Array Block (LAB) </a:t>
            </a:r>
            <a:r>
              <a:rPr lang="en-US" sz="1800" dirty="0"/>
              <a:t>capable of achieving higher design packing capability</a:t>
            </a:r>
          </a:p>
          <a:p>
            <a:pPr lvl="2"/>
            <a:endParaRPr lang="en-US" sz="1000" dirty="0"/>
          </a:p>
          <a:p>
            <a:r>
              <a:rPr lang="en-US" sz="1800" dirty="0"/>
              <a:t>Wearable applications: Peripheral functionalities like wireless communications, image perception and display. </a:t>
            </a:r>
          </a:p>
          <a:p>
            <a:pPr marL="0" indent="0">
              <a:buNone/>
            </a:pPr>
            <a:endParaRPr lang="en-US" sz="1800" dirty="0"/>
          </a:p>
        </p:txBody>
      </p:sp>
      <p:pic>
        <p:nvPicPr>
          <p:cNvPr id="4" name="Picture 2" descr="File:Ieee blue.jpg - Wikimedia Commons">
            <a:extLst>
              <a:ext uri="{FF2B5EF4-FFF2-40B4-BE49-F238E27FC236}">
                <a16:creationId xmlns:a16="http://schemas.microsoft.com/office/drawing/2014/main" id="{04BEC60D-16D8-41D8-89A6-779B601702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486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84BE-19B0-4295-9EE1-D28D4C02D4B0}"/>
              </a:ext>
            </a:extLst>
          </p:cNvPr>
          <p:cNvSpPr>
            <a:spLocks noGrp="1"/>
          </p:cNvSpPr>
          <p:nvPr>
            <p:ph type="title"/>
          </p:nvPr>
        </p:nvSpPr>
        <p:spPr/>
        <p:txBody>
          <a:bodyPr>
            <a:normAutofit/>
          </a:bodyPr>
          <a:lstStyle/>
          <a:p>
            <a:r>
              <a:rPr lang="en-US" sz="3200" b="1" dirty="0">
                <a:latin typeface="+mn-lt"/>
              </a:rPr>
              <a:t>System Architecture</a:t>
            </a:r>
          </a:p>
        </p:txBody>
      </p:sp>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p:txBody>
          <a:bodyPr>
            <a:normAutofit/>
          </a:bodyPr>
          <a:lstStyle/>
          <a:p>
            <a:r>
              <a:rPr lang="en-IN" sz="2000" dirty="0"/>
              <a:t>A 32- Bit Microprocessor without Interlocked Pipelined Stages (MIPS) with 32-Bit Data Word, 32-Bit Addresses &amp; 32-Bit Instructions of three types: </a:t>
            </a:r>
            <a:endParaRPr lang="en-US" sz="2000" dirty="0"/>
          </a:p>
          <a:p>
            <a:pPr marL="0" lvl="0" indent="0">
              <a:buNone/>
            </a:pPr>
            <a:r>
              <a:rPr lang="en-IN" sz="2000" dirty="0"/>
              <a:t>             R – Type (Register)</a:t>
            </a:r>
            <a:endParaRPr lang="en-US" sz="2000" dirty="0"/>
          </a:p>
          <a:p>
            <a:pPr marL="0" lvl="0" indent="0">
              <a:buNone/>
            </a:pPr>
            <a:r>
              <a:rPr lang="en-IN" sz="2000" dirty="0"/>
              <a:t>             I – Type (Immediate)</a:t>
            </a:r>
            <a:endParaRPr lang="en-US" sz="2000" dirty="0"/>
          </a:p>
          <a:p>
            <a:pPr marL="0" lvl="0" indent="0">
              <a:buNone/>
            </a:pPr>
            <a:r>
              <a:rPr lang="en-IN" sz="2000" dirty="0"/>
              <a:t>             J – Type (Jump)</a:t>
            </a:r>
            <a:endParaRPr lang="en-US" sz="2000" dirty="0"/>
          </a:p>
          <a:p>
            <a:r>
              <a:rPr lang="en-IN" sz="2000" dirty="0"/>
              <a:t>Where in, all Operation Codes (OP) are 6-Bits and all register addresses are 5-Bits. </a:t>
            </a:r>
            <a:endParaRPr lang="en-US" sz="2000" dirty="0"/>
          </a:p>
        </p:txBody>
      </p:sp>
      <p:pic>
        <p:nvPicPr>
          <p:cNvPr id="4" name="Picture 2" descr="File:Ieee blue.jpg - Wikimedia Commons">
            <a:extLst>
              <a:ext uri="{FF2B5EF4-FFF2-40B4-BE49-F238E27FC236}">
                <a16:creationId xmlns:a16="http://schemas.microsoft.com/office/drawing/2014/main" id="{961F8F4A-C13E-4A04-BB35-21CAE9D7F7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666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84BE-19B0-4295-9EE1-D28D4C02D4B0}"/>
              </a:ext>
            </a:extLst>
          </p:cNvPr>
          <p:cNvSpPr>
            <a:spLocks noGrp="1"/>
          </p:cNvSpPr>
          <p:nvPr>
            <p:ph type="title"/>
          </p:nvPr>
        </p:nvSpPr>
        <p:spPr/>
        <p:txBody>
          <a:bodyPr>
            <a:normAutofit/>
          </a:bodyPr>
          <a:lstStyle/>
          <a:p>
            <a:r>
              <a:rPr lang="en-US" sz="3200" b="1" dirty="0">
                <a:latin typeface="+mn-lt"/>
              </a:rPr>
              <a:t>System Architecture</a:t>
            </a:r>
          </a:p>
        </p:txBody>
      </p:sp>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p:txBody>
          <a:bodyPr>
            <a:normAutofit/>
          </a:bodyPr>
          <a:lstStyle/>
          <a:p>
            <a:pPr marL="457200" lvl="1" indent="0" fontAlgn="base">
              <a:buNone/>
            </a:pPr>
            <a:r>
              <a:rPr lang="en-US" sz="1800" b="1" i="1" dirty="0">
                <a:effectLst>
                  <a:outerShdw sx="0" sy="0">
                    <a:srgbClr val="000000"/>
                  </a:outerShdw>
                </a:effectLst>
              </a:rPr>
              <a:t>Instruction Set Architecture (ISA)</a:t>
            </a:r>
          </a:p>
          <a:p>
            <a:r>
              <a:rPr lang="en-IN" sz="2000" dirty="0"/>
              <a:t>Using General – Purpose Registers, the MIPS is designed with a five – stage RISC Load – Store Architecture, stages are:</a:t>
            </a:r>
            <a:endParaRPr lang="en-US" sz="2000" dirty="0"/>
          </a:p>
          <a:p>
            <a:pPr lvl="0"/>
            <a:r>
              <a:rPr lang="en-IN" sz="2000" dirty="0"/>
              <a:t>Instruction Fetch (IF): Get Instruction from Memory, followed by Increment of the Program Counter (PC).</a:t>
            </a:r>
            <a:endParaRPr lang="en-US" sz="2000" dirty="0"/>
          </a:p>
          <a:p>
            <a:pPr lvl="0"/>
            <a:r>
              <a:rPr lang="en-IN" sz="2000" dirty="0"/>
              <a:t>Instruction Decode (ID): Translates OP into control signals and register reads.</a:t>
            </a:r>
            <a:endParaRPr lang="en-US" sz="2000" dirty="0"/>
          </a:p>
          <a:p>
            <a:pPr lvl="0"/>
            <a:r>
              <a:rPr lang="en-IN" sz="2000" dirty="0"/>
              <a:t>Execute (EX): Arithmetic Logic Unit (ALU) Operations, computing Jump or Branch to target operations.</a:t>
            </a:r>
            <a:endParaRPr lang="en-US" sz="2000" dirty="0"/>
          </a:p>
          <a:p>
            <a:pPr lvl="0"/>
            <a:r>
              <a:rPr lang="en-IN" sz="2000" dirty="0"/>
              <a:t>Memory (MEM): Access Memory, if needed.</a:t>
            </a:r>
            <a:endParaRPr lang="en-US" sz="2000" dirty="0"/>
          </a:p>
          <a:p>
            <a:r>
              <a:rPr lang="en-IN" sz="2000" dirty="0"/>
              <a:t>Writeback (WB): Updates Register / Memory File</a:t>
            </a:r>
            <a:endParaRPr lang="en-US" sz="4800" dirty="0"/>
          </a:p>
        </p:txBody>
      </p:sp>
      <p:pic>
        <p:nvPicPr>
          <p:cNvPr id="4" name="Picture 2" descr="File:Ieee blue.jpg - Wikimedia Commons">
            <a:extLst>
              <a:ext uri="{FF2B5EF4-FFF2-40B4-BE49-F238E27FC236}">
                <a16:creationId xmlns:a16="http://schemas.microsoft.com/office/drawing/2014/main" id="{828CC600-0EF4-423F-879C-FFD43C1B844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042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84BE-19B0-4295-9EE1-D28D4C02D4B0}"/>
              </a:ext>
            </a:extLst>
          </p:cNvPr>
          <p:cNvSpPr>
            <a:spLocks noGrp="1"/>
          </p:cNvSpPr>
          <p:nvPr>
            <p:ph type="title"/>
          </p:nvPr>
        </p:nvSpPr>
        <p:spPr/>
        <p:txBody>
          <a:bodyPr>
            <a:normAutofit/>
          </a:bodyPr>
          <a:lstStyle/>
          <a:p>
            <a:r>
              <a:rPr lang="en-US" sz="3200" b="1" dirty="0">
                <a:latin typeface="+mn-lt"/>
              </a:rPr>
              <a:t>System Architecture</a:t>
            </a:r>
          </a:p>
        </p:txBody>
      </p:sp>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a:xfrm>
            <a:off x="572655" y="1690688"/>
            <a:ext cx="10781145" cy="4486275"/>
          </a:xfrm>
        </p:spPr>
        <p:txBody>
          <a:bodyPr>
            <a:normAutofit/>
          </a:bodyPr>
          <a:lstStyle/>
          <a:p>
            <a:pPr marL="457200" lvl="1" indent="0" fontAlgn="base">
              <a:buNone/>
            </a:pPr>
            <a:r>
              <a:rPr lang="en-IN" sz="1800" dirty="0"/>
              <a:t>This MIPS Architecture is developed with two addressing modes, displacement and immediate in nature with support of integers and IEEE – 754 floating-point numbers. MIPS also has a separate comparison and branching instruction</a:t>
            </a:r>
            <a:endParaRPr lang="en-US" sz="4000" dirty="0"/>
          </a:p>
        </p:txBody>
      </p:sp>
      <p:graphicFrame>
        <p:nvGraphicFramePr>
          <p:cNvPr id="4" name="Table 3">
            <a:extLst>
              <a:ext uri="{FF2B5EF4-FFF2-40B4-BE49-F238E27FC236}">
                <a16:creationId xmlns:a16="http://schemas.microsoft.com/office/drawing/2014/main" id="{9E226DEB-E523-4B02-96D2-03DEE00B0AB6}"/>
              </a:ext>
            </a:extLst>
          </p:cNvPr>
          <p:cNvGraphicFramePr>
            <a:graphicFrameLocks noGrp="1"/>
          </p:cNvGraphicFramePr>
          <p:nvPr>
            <p:extLst>
              <p:ext uri="{D42A27DB-BD31-4B8C-83A1-F6EECF244321}">
                <p14:modId xmlns:p14="http://schemas.microsoft.com/office/powerpoint/2010/main" val="3044344490"/>
              </p:ext>
            </p:extLst>
          </p:nvPr>
        </p:nvGraphicFramePr>
        <p:xfrm>
          <a:off x="2105892" y="2858220"/>
          <a:ext cx="6899562" cy="2309092"/>
        </p:xfrm>
        <a:graphic>
          <a:graphicData uri="http://schemas.openxmlformats.org/drawingml/2006/table">
            <a:tbl>
              <a:tblPr firstRow="1" firstCol="1" bandRow="1">
                <a:tableStyleId>{5C22544A-7EE6-4342-B048-85BDC9FD1C3A}</a:tableStyleId>
              </a:tblPr>
              <a:tblGrid>
                <a:gridCol w="875233">
                  <a:extLst>
                    <a:ext uri="{9D8B030D-6E8A-4147-A177-3AD203B41FA5}">
                      <a16:colId xmlns:a16="http://schemas.microsoft.com/office/drawing/2014/main" val="3183795747"/>
                    </a:ext>
                  </a:extLst>
                </a:gridCol>
                <a:gridCol w="1133824">
                  <a:extLst>
                    <a:ext uri="{9D8B030D-6E8A-4147-A177-3AD203B41FA5}">
                      <a16:colId xmlns:a16="http://schemas.microsoft.com/office/drawing/2014/main" val="818696173"/>
                    </a:ext>
                  </a:extLst>
                </a:gridCol>
                <a:gridCol w="1008791">
                  <a:extLst>
                    <a:ext uri="{9D8B030D-6E8A-4147-A177-3AD203B41FA5}">
                      <a16:colId xmlns:a16="http://schemas.microsoft.com/office/drawing/2014/main" val="413291514"/>
                    </a:ext>
                  </a:extLst>
                </a:gridCol>
                <a:gridCol w="1038629">
                  <a:extLst>
                    <a:ext uri="{9D8B030D-6E8A-4147-A177-3AD203B41FA5}">
                      <a16:colId xmlns:a16="http://schemas.microsoft.com/office/drawing/2014/main" val="1150483940"/>
                    </a:ext>
                  </a:extLst>
                </a:gridCol>
                <a:gridCol w="1004528">
                  <a:extLst>
                    <a:ext uri="{9D8B030D-6E8A-4147-A177-3AD203B41FA5}">
                      <a16:colId xmlns:a16="http://schemas.microsoft.com/office/drawing/2014/main" val="3745808715"/>
                    </a:ext>
                  </a:extLst>
                </a:gridCol>
                <a:gridCol w="835450">
                  <a:extLst>
                    <a:ext uri="{9D8B030D-6E8A-4147-A177-3AD203B41FA5}">
                      <a16:colId xmlns:a16="http://schemas.microsoft.com/office/drawing/2014/main" val="1750270166"/>
                    </a:ext>
                  </a:extLst>
                </a:gridCol>
                <a:gridCol w="1003107">
                  <a:extLst>
                    <a:ext uri="{9D8B030D-6E8A-4147-A177-3AD203B41FA5}">
                      <a16:colId xmlns:a16="http://schemas.microsoft.com/office/drawing/2014/main" val="1954963978"/>
                    </a:ext>
                  </a:extLst>
                </a:gridCol>
              </a:tblGrid>
              <a:tr h="610960">
                <a:tc>
                  <a:txBody>
                    <a:bodyPr/>
                    <a:lstStyle/>
                    <a:p>
                      <a:pPr marL="0" marR="0" indent="182880" algn="just">
                        <a:lnSpc>
                          <a:spcPct val="95000"/>
                        </a:lnSpc>
                        <a:spcBef>
                          <a:spcPts val="0"/>
                        </a:spcBef>
                        <a:spcAft>
                          <a:spcPts val="600"/>
                        </a:spcAft>
                        <a:tabLst>
                          <a:tab pos="182880" algn="l"/>
                        </a:tabLst>
                      </a:pPr>
                      <a:r>
                        <a:rPr lang="en-IN" sz="700" spc="-5">
                          <a:effectLst/>
                        </a:rPr>
                        <a:t>Format</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BITS </a:t>
                      </a:r>
                      <a:br>
                        <a:rPr lang="en-IN" sz="700" spc="-5">
                          <a:effectLst/>
                        </a:rPr>
                      </a:br>
                      <a:r>
                        <a:rPr lang="en-IN" sz="700" spc="-5">
                          <a:effectLst/>
                        </a:rPr>
                        <a:t>31 – 26</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BITS</a:t>
                      </a:r>
                      <a:br>
                        <a:rPr lang="en-IN" sz="700" spc="-5">
                          <a:effectLst/>
                        </a:rPr>
                      </a:br>
                      <a:r>
                        <a:rPr lang="en-IN" sz="700" spc="-5">
                          <a:effectLst/>
                        </a:rPr>
                        <a:t>25 – 21</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BITS</a:t>
                      </a:r>
                      <a:br>
                        <a:rPr lang="en-IN" sz="700" spc="-5">
                          <a:effectLst/>
                        </a:rPr>
                      </a:br>
                      <a:r>
                        <a:rPr lang="en-IN" sz="700" spc="-5">
                          <a:effectLst/>
                        </a:rPr>
                        <a:t>20 – 16</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BITS</a:t>
                      </a:r>
                      <a:br>
                        <a:rPr lang="en-IN" sz="700" spc="-5">
                          <a:effectLst/>
                        </a:rPr>
                      </a:br>
                      <a:r>
                        <a:rPr lang="en-IN" sz="700" spc="-5">
                          <a:effectLst/>
                        </a:rPr>
                        <a:t>15 – 11</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BITS</a:t>
                      </a:r>
                      <a:br>
                        <a:rPr lang="en-IN" sz="700" spc="-5">
                          <a:effectLst/>
                        </a:rPr>
                      </a:br>
                      <a:r>
                        <a:rPr lang="en-IN" sz="700" spc="-5">
                          <a:effectLst/>
                        </a:rPr>
                        <a:t>10 – 6</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BITS</a:t>
                      </a:r>
                      <a:br>
                        <a:rPr lang="en-IN" sz="700" spc="-5">
                          <a:effectLst/>
                        </a:rPr>
                      </a:br>
                      <a:r>
                        <a:rPr lang="en-IN" sz="700" spc="-5">
                          <a:effectLst/>
                        </a:rPr>
                        <a:t>5 – 0</a:t>
                      </a:r>
                      <a:endParaRPr lang="en-US" sz="1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430432498"/>
                  </a:ext>
                </a:extLst>
              </a:tr>
              <a:tr h="610960">
                <a:tc>
                  <a:txBody>
                    <a:bodyPr/>
                    <a:lstStyle/>
                    <a:p>
                      <a:pPr marL="0" marR="0" indent="182880" algn="just">
                        <a:lnSpc>
                          <a:spcPct val="95000"/>
                        </a:lnSpc>
                        <a:spcBef>
                          <a:spcPts val="0"/>
                        </a:spcBef>
                        <a:spcAft>
                          <a:spcPts val="600"/>
                        </a:spcAft>
                        <a:tabLst>
                          <a:tab pos="182880" algn="l"/>
                        </a:tabLst>
                      </a:pPr>
                      <a:r>
                        <a:rPr lang="en-IN" sz="700" spc="-5">
                          <a:effectLst/>
                        </a:rPr>
                        <a:t>R</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OP</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600" spc="-5">
                          <a:effectLst/>
                        </a:rPr>
                        <a:t>Source Reg [0]</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600" spc="-5">
                          <a:effectLst/>
                        </a:rPr>
                        <a:t>Source Reg [1]</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Reg. Target</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Shift Amt.</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Function</a:t>
                      </a:r>
                      <a:endParaRPr lang="en-US" sz="1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185719143"/>
                  </a:ext>
                </a:extLst>
              </a:tr>
              <a:tr h="543586">
                <a:tc>
                  <a:txBody>
                    <a:bodyPr/>
                    <a:lstStyle/>
                    <a:p>
                      <a:pPr marL="0" marR="0" indent="182880" algn="just">
                        <a:lnSpc>
                          <a:spcPct val="95000"/>
                        </a:lnSpc>
                        <a:spcBef>
                          <a:spcPts val="0"/>
                        </a:spcBef>
                        <a:spcAft>
                          <a:spcPts val="600"/>
                        </a:spcAft>
                        <a:tabLst>
                          <a:tab pos="182880" algn="l"/>
                        </a:tabLst>
                      </a:pPr>
                      <a:r>
                        <a:rPr lang="en-IN" sz="700" spc="-5">
                          <a:effectLst/>
                        </a:rPr>
                        <a:t>I</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OP</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600" spc="-5">
                          <a:effectLst/>
                        </a:rPr>
                        <a:t>Source Reg [0]</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600" spc="-5">
                          <a:effectLst/>
                        </a:rPr>
                        <a:t>Source Reg [1]</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gridSpan="3">
                  <a:txBody>
                    <a:bodyPr/>
                    <a:lstStyle/>
                    <a:p>
                      <a:pPr marL="0" marR="0" indent="182880" algn="just">
                        <a:lnSpc>
                          <a:spcPct val="95000"/>
                        </a:lnSpc>
                        <a:spcBef>
                          <a:spcPts val="0"/>
                        </a:spcBef>
                        <a:spcAft>
                          <a:spcPts val="600"/>
                        </a:spcAft>
                        <a:tabLst>
                          <a:tab pos="182880" algn="l"/>
                        </a:tabLst>
                      </a:pPr>
                      <a:r>
                        <a:rPr lang="en-IN" sz="700" spc="-5">
                          <a:effectLst/>
                        </a:rPr>
                        <a:t>Immediate – 16 Bits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5746378"/>
                  </a:ext>
                </a:extLst>
              </a:tr>
              <a:tr h="543586">
                <a:tc>
                  <a:txBody>
                    <a:bodyPr/>
                    <a:lstStyle/>
                    <a:p>
                      <a:pPr marL="0" marR="0" indent="182880" algn="just">
                        <a:lnSpc>
                          <a:spcPct val="95000"/>
                        </a:lnSpc>
                        <a:spcBef>
                          <a:spcPts val="0"/>
                        </a:spcBef>
                        <a:spcAft>
                          <a:spcPts val="600"/>
                        </a:spcAft>
                        <a:tabLst>
                          <a:tab pos="182880" algn="l"/>
                        </a:tabLst>
                      </a:pPr>
                      <a:r>
                        <a:rPr lang="en-IN" sz="700" spc="-5">
                          <a:effectLst/>
                        </a:rPr>
                        <a:t>J</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700" spc="-5">
                          <a:effectLst/>
                        </a:rPr>
                        <a:t>OP</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gridSpan="5">
                  <a:txBody>
                    <a:bodyPr/>
                    <a:lstStyle/>
                    <a:p>
                      <a:pPr marL="0" marR="0" indent="182880" algn="just">
                        <a:lnSpc>
                          <a:spcPct val="95000"/>
                        </a:lnSpc>
                        <a:spcBef>
                          <a:spcPts val="0"/>
                        </a:spcBef>
                        <a:spcAft>
                          <a:spcPts val="600"/>
                        </a:spcAft>
                        <a:tabLst>
                          <a:tab pos="182880" algn="l"/>
                        </a:tabLst>
                      </a:pPr>
                      <a:r>
                        <a:rPr lang="en-IN" sz="700" spc="-5" dirty="0">
                          <a:effectLst/>
                        </a:rPr>
                        <a:t>Target – 26 Bits</a:t>
                      </a:r>
                      <a:endParaRPr lang="en-US" sz="1000" spc="-5" dirty="0">
                        <a:effectLst/>
                        <a:latin typeface="Times New Roman" panose="02020603050405020304" pitchFamily="18" charset="0"/>
                        <a:ea typeface="SimSun" panose="02010600030101010101" pitchFamily="2" charset="-122"/>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99240323"/>
                  </a:ext>
                </a:extLst>
              </a:tr>
            </a:tbl>
          </a:graphicData>
        </a:graphic>
      </p:graphicFrame>
      <p:sp>
        <p:nvSpPr>
          <p:cNvPr id="5" name="Rectangle 4">
            <a:extLst>
              <a:ext uri="{FF2B5EF4-FFF2-40B4-BE49-F238E27FC236}">
                <a16:creationId xmlns:a16="http://schemas.microsoft.com/office/drawing/2014/main" id="{2E93FE69-6BB5-46EE-BC82-6B0D37D9E302}"/>
              </a:ext>
            </a:extLst>
          </p:cNvPr>
          <p:cNvSpPr/>
          <p:nvPr/>
        </p:nvSpPr>
        <p:spPr>
          <a:xfrm>
            <a:off x="3950113" y="5487471"/>
            <a:ext cx="3645229" cy="307777"/>
          </a:xfrm>
          <a:prstGeom prst="rect">
            <a:avLst/>
          </a:prstGeom>
        </p:spPr>
        <p:txBody>
          <a:bodyPr wrap="square">
            <a:spAutoFit/>
          </a:bodyPr>
          <a:lstStyle/>
          <a:p>
            <a:pPr algn="ctr">
              <a:spcAft>
                <a:spcPts val="1000"/>
              </a:spcAft>
            </a:pPr>
            <a:r>
              <a:rPr lang="en-US" sz="1400" i="1" dirty="0">
                <a:solidFill>
                  <a:srgbClr val="44546A"/>
                </a:solidFill>
                <a:latin typeface="Times New Roman" panose="02020603050405020304" pitchFamily="18" charset="0"/>
                <a:ea typeface="SimSun" panose="02010600030101010101" pitchFamily="2" charset="-122"/>
              </a:rPr>
              <a:t>Table I: MIPS Instruction Set Format</a:t>
            </a:r>
            <a:endParaRPr lang="en-US" sz="1600" i="1" dirty="0">
              <a:solidFill>
                <a:srgbClr val="44546A"/>
              </a:solidFill>
              <a:effectLst/>
              <a:latin typeface="Times New Roman" panose="02020603050405020304" pitchFamily="18" charset="0"/>
              <a:ea typeface="SimSun" panose="02010600030101010101" pitchFamily="2" charset="-122"/>
            </a:endParaRPr>
          </a:p>
        </p:txBody>
      </p:sp>
      <p:pic>
        <p:nvPicPr>
          <p:cNvPr id="6" name="Picture 2" descr="File:Ieee blue.jpg - Wikimedia Commons">
            <a:extLst>
              <a:ext uri="{FF2B5EF4-FFF2-40B4-BE49-F238E27FC236}">
                <a16:creationId xmlns:a16="http://schemas.microsoft.com/office/drawing/2014/main" id="{93EC1D6A-9BC6-4B6F-90B4-44F19BF246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534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84BE-19B0-4295-9EE1-D28D4C02D4B0}"/>
              </a:ext>
            </a:extLst>
          </p:cNvPr>
          <p:cNvSpPr>
            <a:spLocks noGrp="1"/>
          </p:cNvSpPr>
          <p:nvPr>
            <p:ph type="title"/>
          </p:nvPr>
        </p:nvSpPr>
        <p:spPr/>
        <p:txBody>
          <a:bodyPr>
            <a:normAutofit/>
          </a:bodyPr>
          <a:lstStyle/>
          <a:p>
            <a:r>
              <a:rPr lang="en-US" sz="3200" b="1" dirty="0">
                <a:latin typeface="+mn-lt"/>
              </a:rPr>
              <a:t>System Architecture</a:t>
            </a:r>
          </a:p>
        </p:txBody>
      </p:sp>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a:xfrm>
            <a:off x="572655" y="1514764"/>
            <a:ext cx="11453090" cy="4662199"/>
          </a:xfrm>
        </p:spPr>
        <p:txBody>
          <a:bodyPr>
            <a:normAutofit/>
          </a:bodyPr>
          <a:lstStyle/>
          <a:p>
            <a:pPr lvl="1" fontAlgn="base"/>
            <a:r>
              <a:rPr lang="en-US" sz="1800" b="1" i="1" dirty="0">
                <a:effectLst>
                  <a:outerShdw sx="0" sy="0">
                    <a:srgbClr val="000000"/>
                  </a:outerShdw>
                </a:effectLst>
              </a:rPr>
              <a:t>Register Transfer Level (RTL) Design </a:t>
            </a:r>
          </a:p>
          <a:p>
            <a:r>
              <a:rPr lang="en-IN" sz="1800" dirty="0"/>
              <a:t>Expressing the ISA in a Register Transfer Level (RTL) format with required Datapath components and interconnections. Control signals for enabling Datapath elements to execute an instruction in the appropriate sequence through the design of a control logic. To manage hazards for smooth operation of the MIPS, a few units are added as mentioned below:</a:t>
            </a:r>
            <a:endParaRPr lang="en-US" sz="1800" dirty="0"/>
          </a:p>
          <a:p>
            <a:pPr lvl="0"/>
            <a:r>
              <a:rPr lang="en-IN" sz="1800" dirty="0"/>
              <a:t>Forwarding Unit: Designed to forward the right output of the ALU, when data hazards are detected at the source registers of the current instruction. </a:t>
            </a:r>
            <a:endParaRPr lang="en-US" sz="1800" dirty="0"/>
          </a:p>
          <a:p>
            <a:pPr lvl="0"/>
            <a:r>
              <a:rPr lang="en-IN" sz="1800" dirty="0"/>
              <a:t>Stall Control Unit: At the ID Stage, when the destination register of the current instruction is similar to the source registers, with the exceptions for load (LW) and XOR-Immediate (XORI), stalling of one clock cycle is required to resolve the caused data hazard. </a:t>
            </a:r>
            <a:endParaRPr lang="en-US" sz="1800" dirty="0"/>
          </a:p>
          <a:p>
            <a:pPr lvl="0"/>
            <a:r>
              <a:rPr lang="en-IN" sz="1800" dirty="0"/>
              <a:t>Flush Control Unit: Designed to resolve control hazards, which performs actions to discard instructions in the IF and ID stages for J – Type Instructions. </a:t>
            </a:r>
            <a:endParaRPr lang="en-US" sz="1800" dirty="0"/>
          </a:p>
          <a:p>
            <a:pPr lvl="0"/>
            <a:r>
              <a:rPr lang="en-IN" sz="1800" dirty="0"/>
              <a:t>Write-Back Forwarding Unit: When reading and writing of the same address causes hazards as the readout data may not be the right write data. This hazard is resolved by directly forwarding the correct writing data to the output.</a:t>
            </a:r>
            <a:endParaRPr lang="en-US" sz="1800" dirty="0"/>
          </a:p>
          <a:p>
            <a:pPr marL="457200" lvl="1" indent="0" fontAlgn="base">
              <a:buNone/>
            </a:pPr>
            <a:endParaRPr lang="en-US" sz="4000" dirty="0"/>
          </a:p>
        </p:txBody>
      </p:sp>
      <p:pic>
        <p:nvPicPr>
          <p:cNvPr id="6" name="Picture 2" descr="File:Ieee blue.jpg - Wikimedia Commons">
            <a:extLst>
              <a:ext uri="{FF2B5EF4-FFF2-40B4-BE49-F238E27FC236}">
                <a16:creationId xmlns:a16="http://schemas.microsoft.com/office/drawing/2014/main" id="{D6EB81D6-7CF4-4C71-8948-413589F8E5B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3332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84BE-19B0-4295-9EE1-D28D4C02D4B0}"/>
              </a:ext>
            </a:extLst>
          </p:cNvPr>
          <p:cNvSpPr>
            <a:spLocks noGrp="1"/>
          </p:cNvSpPr>
          <p:nvPr>
            <p:ph type="title"/>
          </p:nvPr>
        </p:nvSpPr>
        <p:spPr/>
        <p:txBody>
          <a:bodyPr>
            <a:normAutofit/>
          </a:bodyPr>
          <a:lstStyle/>
          <a:p>
            <a:r>
              <a:rPr lang="en-US" sz="3200" b="1" dirty="0">
                <a:latin typeface="+mn-lt"/>
              </a:rPr>
              <a:t>System Architecture</a:t>
            </a:r>
          </a:p>
        </p:txBody>
      </p:sp>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a:xfrm>
            <a:off x="572655" y="1514764"/>
            <a:ext cx="11453090" cy="4662199"/>
          </a:xfrm>
        </p:spPr>
        <p:txBody>
          <a:bodyPr>
            <a:normAutofit/>
          </a:bodyPr>
          <a:lstStyle/>
          <a:p>
            <a:pPr lvl="1" fontAlgn="base"/>
            <a:r>
              <a:rPr lang="en-US" sz="1800" b="1" i="1" dirty="0">
                <a:effectLst>
                  <a:outerShdw sx="0" sy="0">
                    <a:srgbClr val="000000"/>
                  </a:outerShdw>
                </a:effectLst>
              </a:rPr>
              <a:t>Register Transfer Level (RTL) Design </a:t>
            </a:r>
          </a:p>
          <a:p>
            <a:pPr marL="457200" lvl="1" indent="0" fontAlgn="base">
              <a:buNone/>
            </a:pPr>
            <a:endParaRPr lang="en-US" sz="4000" dirty="0"/>
          </a:p>
        </p:txBody>
      </p:sp>
      <p:pic>
        <p:nvPicPr>
          <p:cNvPr id="4" name="Picture 3" descr="C:\Users\kumar\Downloads\WhatsApp Image 2022-01-29 at 15.05.16.tiff">
            <a:extLst>
              <a:ext uri="{FF2B5EF4-FFF2-40B4-BE49-F238E27FC236}">
                <a16:creationId xmlns:a16="http://schemas.microsoft.com/office/drawing/2014/main" id="{F1EF0299-570F-453E-BBF0-5DD1FF317FA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63445" y="2037438"/>
            <a:ext cx="9665109" cy="2487560"/>
          </a:xfrm>
          <a:prstGeom prst="rect">
            <a:avLst/>
          </a:prstGeom>
          <a:noFill/>
          <a:ln>
            <a:noFill/>
          </a:ln>
        </p:spPr>
      </p:pic>
      <p:sp>
        <p:nvSpPr>
          <p:cNvPr id="5" name="Rectangle 4">
            <a:extLst>
              <a:ext uri="{FF2B5EF4-FFF2-40B4-BE49-F238E27FC236}">
                <a16:creationId xmlns:a16="http://schemas.microsoft.com/office/drawing/2014/main" id="{BDF44A35-4202-45DA-96E5-A9D0477E572D}"/>
              </a:ext>
            </a:extLst>
          </p:cNvPr>
          <p:cNvSpPr/>
          <p:nvPr/>
        </p:nvSpPr>
        <p:spPr>
          <a:xfrm>
            <a:off x="3079757" y="5336083"/>
            <a:ext cx="6032484" cy="338554"/>
          </a:xfrm>
          <a:prstGeom prst="rect">
            <a:avLst/>
          </a:prstGeom>
        </p:spPr>
        <p:txBody>
          <a:bodyPr wrap="squar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Fig. 1: Register Transfer Level Elaborated Schematic Diagram</a:t>
            </a:r>
            <a:endParaRPr lang="en-US" i="1" dirty="0">
              <a:solidFill>
                <a:srgbClr val="44546A"/>
              </a:solidFill>
              <a:effectLst/>
              <a:latin typeface="Times New Roman" panose="02020603050405020304" pitchFamily="18" charset="0"/>
              <a:ea typeface="SimSun" panose="02010600030101010101" pitchFamily="2" charset="-122"/>
            </a:endParaRPr>
          </a:p>
        </p:txBody>
      </p:sp>
      <p:pic>
        <p:nvPicPr>
          <p:cNvPr id="6" name="Picture 2" descr="File:Ieee blue.jpg - Wikimedia Commons">
            <a:extLst>
              <a:ext uri="{FF2B5EF4-FFF2-40B4-BE49-F238E27FC236}">
                <a16:creationId xmlns:a16="http://schemas.microsoft.com/office/drawing/2014/main" id="{A60597AD-F6A0-4ACE-9567-B3E625E4239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741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84BE-19B0-4295-9EE1-D28D4C02D4B0}"/>
              </a:ext>
            </a:extLst>
          </p:cNvPr>
          <p:cNvSpPr>
            <a:spLocks noGrp="1"/>
          </p:cNvSpPr>
          <p:nvPr>
            <p:ph type="title"/>
          </p:nvPr>
        </p:nvSpPr>
        <p:spPr/>
        <p:txBody>
          <a:bodyPr>
            <a:normAutofit/>
          </a:bodyPr>
          <a:lstStyle/>
          <a:p>
            <a:r>
              <a:rPr lang="en-US" sz="3200" b="1" dirty="0">
                <a:latin typeface="+mn-lt"/>
              </a:rPr>
              <a:t>System Architecture</a:t>
            </a:r>
          </a:p>
        </p:txBody>
      </p:sp>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a:xfrm>
            <a:off x="572655" y="1514764"/>
            <a:ext cx="11453090" cy="4662199"/>
          </a:xfrm>
        </p:spPr>
        <p:txBody>
          <a:bodyPr>
            <a:normAutofit/>
          </a:bodyPr>
          <a:lstStyle/>
          <a:p>
            <a:pPr lvl="1" fontAlgn="base"/>
            <a:r>
              <a:rPr lang="en-US" sz="1800" b="1" i="1" dirty="0">
                <a:effectLst>
                  <a:outerShdw sx="0" sy="0">
                    <a:srgbClr val="000000"/>
                  </a:outerShdw>
                </a:effectLst>
              </a:rPr>
              <a:t>Integrated Circuit – Floorplanning Design</a:t>
            </a:r>
          </a:p>
          <a:p>
            <a:pPr lvl="1" fontAlgn="base"/>
            <a:endParaRPr lang="en-IN" dirty="0"/>
          </a:p>
          <a:p>
            <a:pPr lvl="1" fontAlgn="base"/>
            <a:r>
              <a:rPr lang="en-IN" sz="1800" dirty="0"/>
              <a:t>Physical Design of Integrated Circuit (IC) chips into considering which part of device must remain static and which other parts of the device must be dynamic in nature.</a:t>
            </a:r>
          </a:p>
          <a:p>
            <a:pPr lvl="1" fontAlgn="base"/>
            <a:endParaRPr lang="en-IN" sz="1800" dirty="0"/>
          </a:p>
          <a:p>
            <a:pPr lvl="1" fontAlgn="base"/>
            <a:r>
              <a:rPr lang="en-IN" sz="1800" dirty="0"/>
              <a:t> Timing Closure and Power Optimization are vital constraints to keep in mind during layout of Physical-Blocks (PBlocks), post – initial implementation of the design [6].</a:t>
            </a:r>
          </a:p>
          <a:p>
            <a:pPr lvl="1" fontAlgn="base"/>
            <a:endParaRPr lang="en-IN" sz="1800" dirty="0"/>
          </a:p>
          <a:p>
            <a:pPr lvl="1" fontAlgn="base"/>
            <a:r>
              <a:rPr lang="en-IN" sz="1800" dirty="0"/>
              <a:t> Post RTL Design and elaboration, Input-Output (I/O) Pin Planning is carried out. During Floor planning, after an initial implementation, laying out of Auto-PBlocks of greater than 100 leaf cells are given top priority for five such – instance</a:t>
            </a:r>
            <a:endParaRPr lang="en-US" sz="3200" dirty="0"/>
          </a:p>
        </p:txBody>
      </p:sp>
      <p:pic>
        <p:nvPicPr>
          <p:cNvPr id="6" name="Picture 2" descr="File:Ieee blue.jpg - Wikimedia Commons">
            <a:extLst>
              <a:ext uri="{FF2B5EF4-FFF2-40B4-BE49-F238E27FC236}">
                <a16:creationId xmlns:a16="http://schemas.microsoft.com/office/drawing/2014/main" id="{DA70587A-AEA0-4918-91A1-840329D215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489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3599F-0E14-4457-A840-7BC3C545869A}"/>
              </a:ext>
            </a:extLst>
          </p:cNvPr>
          <p:cNvSpPr>
            <a:spLocks noGrp="1"/>
          </p:cNvSpPr>
          <p:nvPr>
            <p:ph idx="1"/>
          </p:nvPr>
        </p:nvSpPr>
        <p:spPr>
          <a:xfrm>
            <a:off x="618835" y="1524000"/>
            <a:ext cx="11360727" cy="4828887"/>
          </a:xfrm>
        </p:spPr>
        <p:txBody>
          <a:bodyPr>
            <a:normAutofit/>
          </a:bodyPr>
          <a:lstStyle/>
          <a:p>
            <a:pPr lvl="1" fontAlgn="base"/>
            <a:r>
              <a:rPr lang="en-IN" sz="1800" dirty="0"/>
              <a:t>In Xilinx Vivado and Intel Quartus Prime Lite, the project flow is almost similar post RTL Elaboration of the Design when it comes to pin and timing constraints. </a:t>
            </a:r>
          </a:p>
          <a:p>
            <a:pPr lvl="1" fontAlgn="base"/>
            <a:r>
              <a:rPr lang="en-IN" sz="1800" dirty="0"/>
              <a:t>However, significantly different approaches are taken by the respective engines towards synthesis and implementation</a:t>
            </a:r>
          </a:p>
          <a:p>
            <a:pPr lvl="1" fontAlgn="base"/>
            <a:endParaRPr lang="en-IN" sz="1800" dirty="0"/>
          </a:p>
          <a:p>
            <a:pPr lvl="1" fontAlgn="base"/>
            <a:r>
              <a:rPr lang="en-IN" sz="1800" dirty="0"/>
              <a:t>The Given instruction is converted to binary data and passed onto via $readmemb command into the processor. </a:t>
            </a:r>
            <a:endParaRPr lang="en-US" sz="1800" dirty="0"/>
          </a:p>
          <a:p>
            <a:pPr lvl="1" fontAlgn="base"/>
            <a:endParaRPr lang="en-US" dirty="0"/>
          </a:p>
        </p:txBody>
      </p:sp>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Hardware Design and Development</a:t>
            </a:r>
          </a:p>
        </p:txBody>
      </p:sp>
      <p:pic>
        <p:nvPicPr>
          <p:cNvPr id="6" name="Picture 2" descr="File:Ieee blue.jpg - Wikimedia Commons">
            <a:extLst>
              <a:ext uri="{FF2B5EF4-FFF2-40B4-BE49-F238E27FC236}">
                <a16:creationId xmlns:a16="http://schemas.microsoft.com/office/drawing/2014/main" id="{4EFFF724-A4A4-49B5-81A6-A03207B8078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689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Simulation Analysis</a:t>
            </a:r>
          </a:p>
        </p:txBody>
      </p:sp>
      <p:pic>
        <p:nvPicPr>
          <p:cNvPr id="4" name="Content Placeholder 3" descr="C:\Users\kumar\Downloads\Simulation Waveform.tiff">
            <a:extLst>
              <a:ext uri="{FF2B5EF4-FFF2-40B4-BE49-F238E27FC236}">
                <a16:creationId xmlns:a16="http://schemas.microsoft.com/office/drawing/2014/main" id="{032707B0-F2EC-4747-BD96-E3F418BAC78D}"/>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33564" y="1598800"/>
            <a:ext cx="6459451" cy="3660399"/>
          </a:xfrm>
          <a:prstGeom prst="rect">
            <a:avLst/>
          </a:prstGeom>
          <a:noFill/>
          <a:ln>
            <a:noFill/>
          </a:ln>
        </p:spPr>
      </p:pic>
      <p:sp>
        <p:nvSpPr>
          <p:cNvPr id="2" name="Rectangle 1">
            <a:extLst>
              <a:ext uri="{FF2B5EF4-FFF2-40B4-BE49-F238E27FC236}">
                <a16:creationId xmlns:a16="http://schemas.microsoft.com/office/drawing/2014/main" id="{964A3E1F-2048-48C9-BB86-843B32B8DCE7}"/>
              </a:ext>
            </a:extLst>
          </p:cNvPr>
          <p:cNvSpPr/>
          <p:nvPr/>
        </p:nvSpPr>
        <p:spPr>
          <a:xfrm>
            <a:off x="2786454" y="5793571"/>
            <a:ext cx="5830763" cy="369332"/>
          </a:xfrm>
          <a:prstGeom prst="rect">
            <a:avLst/>
          </a:prstGeom>
        </p:spPr>
        <p:txBody>
          <a:bodyPr wrap="none">
            <a:spAutoFit/>
          </a:bodyPr>
          <a:lstStyle/>
          <a:p>
            <a:r>
              <a:rPr lang="en-US" dirty="0">
                <a:latin typeface="Times New Roman" panose="02020603050405020304" pitchFamily="18" charset="0"/>
                <a:ea typeface="SimSun" panose="02010600030101010101" pitchFamily="2" charset="-122"/>
              </a:rPr>
              <a:t>Fig. 2: Post - Implementation Timing Waveform - Spartan 07</a:t>
            </a:r>
            <a:endParaRPr lang="en-US" dirty="0"/>
          </a:p>
        </p:txBody>
      </p:sp>
      <p:pic>
        <p:nvPicPr>
          <p:cNvPr id="6" name="Picture 2" descr="File:Ieee blue.jpg - Wikimedia Commons">
            <a:extLst>
              <a:ext uri="{FF2B5EF4-FFF2-40B4-BE49-F238E27FC236}">
                <a16:creationId xmlns:a16="http://schemas.microsoft.com/office/drawing/2014/main" id="{1CEC5AB4-2CA7-449B-B517-AC77196462F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664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Simulation Analysis</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221673" y="1690688"/>
            <a:ext cx="11757889" cy="4662199"/>
          </a:xfrm>
        </p:spPr>
        <p:txBody>
          <a:bodyPr>
            <a:normAutofit/>
          </a:bodyPr>
          <a:lstStyle/>
          <a:p>
            <a:pPr marL="457200" lvl="1" indent="0" fontAlgn="base">
              <a:buNone/>
            </a:pPr>
            <a:r>
              <a:rPr lang="en-US" sz="2000" b="1" i="1" dirty="0">
                <a:effectLst>
                  <a:outerShdw sx="0" sy="0">
                    <a:srgbClr val="000000"/>
                  </a:outerShdw>
                </a:effectLst>
              </a:rPr>
              <a:t>Design Analysis &amp; Synthesis</a:t>
            </a:r>
          </a:p>
          <a:p>
            <a:pPr marL="457200" lvl="1" indent="0" fontAlgn="base">
              <a:buNone/>
            </a:pPr>
            <a:endParaRPr lang="en-IN" sz="1800" dirty="0"/>
          </a:p>
          <a:p>
            <a:pPr lvl="1" fontAlgn="base"/>
            <a:r>
              <a:rPr lang="en-IN" sz="1800" dirty="0"/>
              <a:t>With the Xilinx Vivado Synthesis Engine strategy set as Flow-Area Optimized: High which performs general area optimizations including changing the threshold for control set optimizations, forcing ternary adder implementations, applying lower thresholds for use of carry chain in comparators and also optimized multiplexer placements. </a:t>
            </a:r>
          </a:p>
          <a:p>
            <a:pPr lvl="1" fontAlgn="base"/>
            <a:endParaRPr lang="en-IN" sz="1800" dirty="0"/>
          </a:p>
          <a:p>
            <a:pPr lvl="1" fontAlgn="base"/>
            <a:r>
              <a:rPr lang="en-IN" sz="1800" dirty="0"/>
              <a:t>When compared to a Synthesis Engine Setting of Flow-Performance Optimized: High where resource sharing is turned off, LUT combining is disabled and Shift-Register LUT (SRL) are inferred with a larger threshold, which focusses on synthesizing higher performance trading – off with larger area utilization. </a:t>
            </a:r>
          </a:p>
          <a:p>
            <a:pPr lvl="1" fontAlgn="base"/>
            <a:endParaRPr lang="en-US" sz="1800" dirty="0"/>
          </a:p>
          <a:p>
            <a:pPr lvl="1" fontAlgn="base"/>
            <a:r>
              <a:rPr lang="en-IN" sz="1800" dirty="0"/>
              <a:t>Although on Intel Quartus Prime Lite’s Quartus-</a:t>
            </a:r>
            <a:r>
              <a:rPr lang="en-IN" sz="1800" dirty="0" err="1"/>
              <a:t>Syn</a:t>
            </a:r>
            <a:r>
              <a:rPr lang="en-IN" sz="1800" dirty="0"/>
              <a:t> synthesis engine generates advanced hierarchical database with preservation of post-synthesis optimizations without impacting of previous partition placement or routing. </a:t>
            </a:r>
            <a:endParaRPr lang="en-US" sz="1800" dirty="0"/>
          </a:p>
        </p:txBody>
      </p:sp>
      <p:pic>
        <p:nvPicPr>
          <p:cNvPr id="28" name="Picture 2" descr="File:Ieee blue.jpg - Wikimedia Commons">
            <a:extLst>
              <a:ext uri="{FF2B5EF4-FFF2-40B4-BE49-F238E27FC236}">
                <a16:creationId xmlns:a16="http://schemas.microsoft.com/office/drawing/2014/main" id="{4E42AB7D-0F8D-48B9-AB6D-8409816CE5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80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Simulation Analysis</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221673" y="1690688"/>
            <a:ext cx="11757889" cy="4662199"/>
          </a:xfrm>
        </p:spPr>
        <p:txBody>
          <a:bodyPr>
            <a:normAutofit/>
          </a:bodyPr>
          <a:lstStyle/>
          <a:p>
            <a:pPr marL="457200" lvl="1" indent="0" fontAlgn="base">
              <a:buNone/>
            </a:pPr>
            <a:r>
              <a:rPr lang="en-US" sz="2000" b="1" i="1" dirty="0">
                <a:effectLst>
                  <a:outerShdw sx="0" sy="0">
                    <a:srgbClr val="000000"/>
                  </a:outerShdw>
                </a:effectLst>
              </a:rPr>
              <a:t>Design Analysis &amp; Synthesis</a:t>
            </a:r>
          </a:p>
          <a:p>
            <a:pPr marL="457200" lvl="1" indent="0" fontAlgn="base">
              <a:buNone/>
            </a:pPr>
            <a:endParaRPr lang="en-US" sz="2000" b="1" i="1" dirty="0">
              <a:effectLst>
                <a:outerShdw sx="0" sy="0">
                  <a:srgbClr val="000000"/>
                </a:outerShdw>
              </a:effectLst>
            </a:endParaRPr>
          </a:p>
          <a:p>
            <a:pPr lvl="1" fontAlgn="base"/>
            <a:r>
              <a:rPr lang="en-IN" sz="1800" dirty="0"/>
              <a:t>The engine is on an overall optimized for better performance, although the default balanced strategy is also recommended keeping in mind routability, power consumption and compilation time. </a:t>
            </a:r>
          </a:p>
          <a:p>
            <a:pPr lvl="1" fontAlgn="base"/>
            <a:endParaRPr lang="en-IN" sz="1800" dirty="0"/>
          </a:p>
          <a:p>
            <a:pPr lvl="1" fontAlgn="base"/>
            <a:r>
              <a:rPr lang="en-IN" sz="1800" dirty="0"/>
              <a:t> Enabling state – machine inferences is also used to improve the performance of the design.</a:t>
            </a:r>
          </a:p>
          <a:p>
            <a:pPr lvl="1" fontAlgn="base"/>
            <a:endParaRPr lang="en-IN" sz="1800" dirty="0"/>
          </a:p>
          <a:p>
            <a:pPr lvl="1" fontAlgn="base"/>
            <a:r>
              <a:rPr lang="en-IN" sz="1800" dirty="0"/>
              <a:t> The compiler specifically targets strategies to reduce area utilization and trades-off with improved performance. If this, setting is set to off, the compiler extracts state – machines to optimize as regular logic</a:t>
            </a:r>
          </a:p>
        </p:txBody>
      </p:sp>
      <p:pic>
        <p:nvPicPr>
          <p:cNvPr id="4" name="Picture 2" descr="File:Ieee blue.jpg - Wikimedia Commons">
            <a:extLst>
              <a:ext uri="{FF2B5EF4-FFF2-40B4-BE49-F238E27FC236}">
                <a16:creationId xmlns:a16="http://schemas.microsoft.com/office/drawing/2014/main" id="{79D495D6-6DF7-4E87-985A-A744260D994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221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a:xfrm>
            <a:off x="745836" y="285793"/>
            <a:ext cx="10515600" cy="1325563"/>
          </a:xfrm>
        </p:spPr>
        <p:txBody>
          <a:bodyPr>
            <a:normAutofit/>
          </a:bodyPr>
          <a:lstStyle/>
          <a:p>
            <a:r>
              <a:rPr lang="en-US" sz="3600" b="1" dirty="0">
                <a:latin typeface="+mn-lt"/>
              </a:rPr>
              <a:t>Simulation Analysis</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304800" y="1579852"/>
            <a:ext cx="11757889" cy="4662199"/>
          </a:xfrm>
        </p:spPr>
        <p:txBody>
          <a:bodyPr>
            <a:normAutofit/>
          </a:bodyPr>
          <a:lstStyle/>
          <a:p>
            <a:pPr marL="457200" lvl="1" indent="0" fontAlgn="base">
              <a:buNone/>
            </a:pPr>
            <a:r>
              <a:rPr lang="en-US" sz="1800" b="1" i="1" dirty="0">
                <a:effectLst>
                  <a:outerShdw sx="0" sy="0">
                    <a:srgbClr val="000000"/>
                  </a:outerShdw>
                </a:effectLst>
              </a:rPr>
              <a:t>Timing Closure and Pin Planning</a:t>
            </a:r>
          </a:p>
          <a:p>
            <a:pPr marL="457200" lvl="1" indent="0" fontAlgn="base">
              <a:buNone/>
            </a:pPr>
            <a:endParaRPr lang="en-IN" sz="1800" dirty="0"/>
          </a:p>
        </p:txBody>
      </p:sp>
      <p:pic>
        <p:nvPicPr>
          <p:cNvPr id="4" name="Picture 3">
            <a:extLst>
              <a:ext uri="{FF2B5EF4-FFF2-40B4-BE49-F238E27FC236}">
                <a16:creationId xmlns:a16="http://schemas.microsoft.com/office/drawing/2014/main" id="{A920AF60-A869-4A8D-AC42-C526C8A6E67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36649" y="2428240"/>
            <a:ext cx="2770331" cy="2849908"/>
          </a:xfrm>
          <a:prstGeom prst="rect">
            <a:avLst/>
          </a:prstGeom>
          <a:noFill/>
        </p:spPr>
      </p:pic>
      <p:pic>
        <p:nvPicPr>
          <p:cNvPr id="6" name="Picture 5" descr="C:\Users\kumar\Downloads\WhatsApp Image 2022-01-29 at 15.11.43.tiff">
            <a:extLst>
              <a:ext uri="{FF2B5EF4-FFF2-40B4-BE49-F238E27FC236}">
                <a16:creationId xmlns:a16="http://schemas.microsoft.com/office/drawing/2014/main" id="{DE07BE98-B144-4AF0-80B1-6E15B4AB9B0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71124" y="2251103"/>
            <a:ext cx="3027796" cy="3204182"/>
          </a:xfrm>
          <a:prstGeom prst="rect">
            <a:avLst/>
          </a:prstGeom>
          <a:noFill/>
          <a:ln>
            <a:noFill/>
          </a:ln>
        </p:spPr>
      </p:pic>
      <p:sp>
        <p:nvSpPr>
          <p:cNvPr id="2" name="Rectangle 1">
            <a:extLst>
              <a:ext uri="{FF2B5EF4-FFF2-40B4-BE49-F238E27FC236}">
                <a16:creationId xmlns:a16="http://schemas.microsoft.com/office/drawing/2014/main" id="{162C4CB7-A810-4AD1-91FE-3F7239DF7324}"/>
              </a:ext>
            </a:extLst>
          </p:cNvPr>
          <p:cNvSpPr/>
          <p:nvPr/>
        </p:nvSpPr>
        <p:spPr>
          <a:xfrm>
            <a:off x="838200" y="5763491"/>
            <a:ext cx="3886397" cy="338554"/>
          </a:xfrm>
          <a:prstGeom prst="rect">
            <a:avLst/>
          </a:prstGeom>
        </p:spPr>
        <p:txBody>
          <a:bodyPr wrap="squar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Fig.3: Spartan – 07 Device Pinout Diagram</a:t>
            </a:r>
            <a:endParaRPr lang="en-US" i="1" dirty="0">
              <a:solidFill>
                <a:srgbClr val="44546A"/>
              </a:solidFill>
              <a:effectLst/>
              <a:latin typeface="Times New Roman" panose="02020603050405020304" pitchFamily="18" charset="0"/>
              <a:ea typeface="SimSun" panose="02010600030101010101" pitchFamily="2" charset="-122"/>
            </a:endParaRPr>
          </a:p>
        </p:txBody>
      </p:sp>
      <p:sp>
        <p:nvSpPr>
          <p:cNvPr id="3" name="Rectangle 2">
            <a:extLst>
              <a:ext uri="{FF2B5EF4-FFF2-40B4-BE49-F238E27FC236}">
                <a16:creationId xmlns:a16="http://schemas.microsoft.com/office/drawing/2014/main" id="{C0FCA389-A509-42E5-9C1F-ADA64F1EED54}"/>
              </a:ext>
            </a:extLst>
          </p:cNvPr>
          <p:cNvSpPr/>
          <p:nvPr/>
        </p:nvSpPr>
        <p:spPr>
          <a:xfrm>
            <a:off x="6503798" y="5763491"/>
            <a:ext cx="3779689" cy="338554"/>
          </a:xfrm>
          <a:prstGeom prst="rect">
            <a:avLst/>
          </a:prstGeom>
        </p:spPr>
        <p:txBody>
          <a:bodyPr wrap="non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Fig.4: Cyclone V E Device Pinout Diagram</a:t>
            </a:r>
            <a:endParaRPr lang="en-US" i="1" dirty="0">
              <a:solidFill>
                <a:srgbClr val="44546A"/>
              </a:solidFill>
              <a:effectLst/>
              <a:latin typeface="Times New Roman" panose="02020603050405020304" pitchFamily="18" charset="0"/>
              <a:ea typeface="SimSun" panose="02010600030101010101" pitchFamily="2" charset="-122"/>
            </a:endParaRPr>
          </a:p>
        </p:txBody>
      </p:sp>
      <p:pic>
        <p:nvPicPr>
          <p:cNvPr id="9" name="Picture 2" descr="File:Ieee blue.jpg - Wikimedia Commons">
            <a:extLst>
              <a:ext uri="{FF2B5EF4-FFF2-40B4-BE49-F238E27FC236}">
                <a16:creationId xmlns:a16="http://schemas.microsoft.com/office/drawing/2014/main" id="{66E64C1D-53EF-419D-9D3B-011EB3DFE38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871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a:xfrm>
            <a:off x="745836" y="285793"/>
            <a:ext cx="10515600" cy="1325563"/>
          </a:xfrm>
        </p:spPr>
        <p:txBody>
          <a:bodyPr>
            <a:normAutofit/>
          </a:bodyPr>
          <a:lstStyle/>
          <a:p>
            <a:r>
              <a:rPr lang="en-US" sz="3600" b="1" dirty="0">
                <a:latin typeface="+mn-lt"/>
              </a:rPr>
              <a:t>Simulation Analysis</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304800" y="1579852"/>
            <a:ext cx="11757889" cy="4662199"/>
          </a:xfrm>
        </p:spPr>
        <p:txBody>
          <a:bodyPr>
            <a:normAutofit/>
          </a:bodyPr>
          <a:lstStyle/>
          <a:p>
            <a:pPr marL="457200" lvl="1" indent="0" fontAlgn="base">
              <a:buNone/>
            </a:pPr>
            <a:r>
              <a:rPr lang="en-US" b="1" i="1" dirty="0">
                <a:effectLst>
                  <a:outerShdw sx="0" sy="0">
                    <a:srgbClr val="000000"/>
                  </a:outerShdw>
                </a:effectLst>
              </a:rPr>
              <a:t>Implementation &amp; Fitter Process</a:t>
            </a:r>
          </a:p>
          <a:p>
            <a:pPr marL="457200" lvl="1" indent="0" fontAlgn="base">
              <a:buNone/>
            </a:pPr>
            <a:endParaRPr lang="en-US" sz="1800" b="1" i="1" dirty="0">
              <a:effectLst>
                <a:outerShdw sx="0" sy="0">
                  <a:srgbClr val="000000"/>
                </a:outerShdw>
              </a:effectLst>
            </a:endParaRPr>
          </a:p>
          <a:p>
            <a:pPr marL="457200" lvl="1" indent="0" fontAlgn="base">
              <a:buNone/>
            </a:pPr>
            <a:endParaRPr lang="en-IN" sz="1800" dirty="0"/>
          </a:p>
        </p:txBody>
      </p:sp>
      <p:graphicFrame>
        <p:nvGraphicFramePr>
          <p:cNvPr id="8" name="Table 7">
            <a:extLst>
              <a:ext uri="{FF2B5EF4-FFF2-40B4-BE49-F238E27FC236}">
                <a16:creationId xmlns:a16="http://schemas.microsoft.com/office/drawing/2014/main" id="{70440791-0AC6-4951-AAF0-A855D7975DB6}"/>
              </a:ext>
            </a:extLst>
          </p:cNvPr>
          <p:cNvGraphicFramePr>
            <a:graphicFrameLocks noGrp="1"/>
          </p:cNvGraphicFramePr>
          <p:nvPr>
            <p:extLst>
              <p:ext uri="{D42A27DB-BD31-4B8C-83A1-F6EECF244321}">
                <p14:modId xmlns:p14="http://schemas.microsoft.com/office/powerpoint/2010/main" val="579018487"/>
              </p:ext>
            </p:extLst>
          </p:nvPr>
        </p:nvGraphicFramePr>
        <p:xfrm>
          <a:off x="822037" y="2585388"/>
          <a:ext cx="4913746" cy="1260115"/>
        </p:xfrm>
        <a:graphic>
          <a:graphicData uri="http://schemas.openxmlformats.org/drawingml/2006/table">
            <a:tbl>
              <a:tblPr firstRow="1" firstCol="1" bandRow="1">
                <a:tableStyleId>{5C22544A-7EE6-4342-B048-85BDC9FD1C3A}</a:tableStyleId>
              </a:tblPr>
              <a:tblGrid>
                <a:gridCol w="1486469">
                  <a:extLst>
                    <a:ext uri="{9D8B030D-6E8A-4147-A177-3AD203B41FA5}">
                      <a16:colId xmlns:a16="http://schemas.microsoft.com/office/drawing/2014/main" val="3590483713"/>
                    </a:ext>
                  </a:extLst>
                </a:gridCol>
                <a:gridCol w="1257781">
                  <a:extLst>
                    <a:ext uri="{9D8B030D-6E8A-4147-A177-3AD203B41FA5}">
                      <a16:colId xmlns:a16="http://schemas.microsoft.com/office/drawing/2014/main" val="1870061252"/>
                    </a:ext>
                  </a:extLst>
                </a:gridCol>
                <a:gridCol w="1075641">
                  <a:extLst>
                    <a:ext uri="{9D8B030D-6E8A-4147-A177-3AD203B41FA5}">
                      <a16:colId xmlns:a16="http://schemas.microsoft.com/office/drawing/2014/main" val="2218500331"/>
                    </a:ext>
                  </a:extLst>
                </a:gridCol>
                <a:gridCol w="1093855">
                  <a:extLst>
                    <a:ext uri="{9D8B030D-6E8A-4147-A177-3AD203B41FA5}">
                      <a16:colId xmlns:a16="http://schemas.microsoft.com/office/drawing/2014/main" val="4199319476"/>
                    </a:ext>
                  </a:extLst>
                </a:gridCol>
              </a:tblGrid>
              <a:tr h="504046">
                <a:tc>
                  <a:txBody>
                    <a:bodyPr/>
                    <a:lstStyle/>
                    <a:p>
                      <a:pPr marL="0" marR="0" indent="0" algn="just">
                        <a:lnSpc>
                          <a:spcPct val="95000"/>
                        </a:lnSpc>
                        <a:spcBef>
                          <a:spcPts val="0"/>
                        </a:spcBef>
                        <a:spcAft>
                          <a:spcPts val="600"/>
                        </a:spcAft>
                        <a:tabLst>
                          <a:tab pos="182880" algn="l"/>
                        </a:tabLst>
                      </a:pPr>
                      <a:r>
                        <a:rPr lang="en-IN" sz="1000" spc="-5">
                          <a:effectLst/>
                        </a:rPr>
                        <a:t>Process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LUTs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Flip Flops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Total Power</a:t>
                      </a:r>
                      <a:endParaRPr lang="en-US" sz="1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120559847"/>
                  </a:ext>
                </a:extLst>
              </a:tr>
              <a:tr h="252023">
                <a:tc>
                  <a:txBody>
                    <a:bodyPr/>
                    <a:lstStyle/>
                    <a:p>
                      <a:pPr marL="0" marR="0" indent="0" algn="just">
                        <a:lnSpc>
                          <a:spcPct val="95000"/>
                        </a:lnSpc>
                        <a:spcBef>
                          <a:spcPts val="0"/>
                        </a:spcBef>
                        <a:spcAft>
                          <a:spcPts val="600"/>
                        </a:spcAft>
                        <a:tabLst>
                          <a:tab pos="182880" algn="l"/>
                        </a:tabLst>
                      </a:pPr>
                      <a:r>
                        <a:rPr lang="en-IN" sz="1000" spc="-5">
                          <a:effectLst/>
                        </a:rPr>
                        <a:t>Synthesis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16,393</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9,079</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0.321 W</a:t>
                      </a:r>
                      <a:endParaRPr lang="en-US" sz="1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484112810"/>
                  </a:ext>
                </a:extLst>
              </a:tr>
              <a:tr h="504046">
                <a:tc>
                  <a:txBody>
                    <a:bodyPr/>
                    <a:lstStyle/>
                    <a:p>
                      <a:pPr marL="0" marR="0" indent="0" algn="just">
                        <a:lnSpc>
                          <a:spcPct val="95000"/>
                        </a:lnSpc>
                        <a:spcBef>
                          <a:spcPts val="0"/>
                        </a:spcBef>
                        <a:spcAft>
                          <a:spcPts val="600"/>
                        </a:spcAft>
                        <a:tabLst>
                          <a:tab pos="182880" algn="l"/>
                        </a:tabLst>
                      </a:pPr>
                      <a:r>
                        <a:rPr lang="en-IN" sz="1000" spc="-5">
                          <a:effectLst/>
                        </a:rPr>
                        <a:t>Implementation</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16,370</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a:effectLst/>
                        </a:rPr>
                        <a:t>9,079</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just">
                        <a:lnSpc>
                          <a:spcPct val="95000"/>
                        </a:lnSpc>
                        <a:spcBef>
                          <a:spcPts val="0"/>
                        </a:spcBef>
                        <a:spcAft>
                          <a:spcPts val="600"/>
                        </a:spcAft>
                        <a:tabLst>
                          <a:tab pos="182880" algn="l"/>
                        </a:tabLst>
                      </a:pPr>
                      <a:r>
                        <a:rPr lang="en-IN" sz="1000" spc="-5" dirty="0">
                          <a:effectLst/>
                        </a:rPr>
                        <a:t>0.467 W</a:t>
                      </a:r>
                      <a:endParaRPr lang="en-US" sz="1000" spc="-5"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587737935"/>
                  </a:ext>
                </a:extLst>
              </a:tr>
            </a:tbl>
          </a:graphicData>
        </a:graphic>
      </p:graphicFrame>
      <p:graphicFrame>
        <p:nvGraphicFramePr>
          <p:cNvPr id="9" name="Table 8">
            <a:extLst>
              <a:ext uri="{FF2B5EF4-FFF2-40B4-BE49-F238E27FC236}">
                <a16:creationId xmlns:a16="http://schemas.microsoft.com/office/drawing/2014/main" id="{43729704-7880-4ED9-B984-5404F6D8DAAE}"/>
              </a:ext>
            </a:extLst>
          </p:cNvPr>
          <p:cNvGraphicFramePr>
            <a:graphicFrameLocks noGrp="1"/>
          </p:cNvGraphicFramePr>
          <p:nvPr>
            <p:extLst>
              <p:ext uri="{D42A27DB-BD31-4B8C-83A1-F6EECF244321}">
                <p14:modId xmlns:p14="http://schemas.microsoft.com/office/powerpoint/2010/main" val="3713175126"/>
              </p:ext>
            </p:extLst>
          </p:nvPr>
        </p:nvGraphicFramePr>
        <p:xfrm>
          <a:off x="6631709" y="2585388"/>
          <a:ext cx="4454238" cy="1260115"/>
        </p:xfrm>
        <a:graphic>
          <a:graphicData uri="http://schemas.openxmlformats.org/drawingml/2006/table">
            <a:tbl>
              <a:tblPr firstRow="1" firstCol="1" bandRow="1">
                <a:tableStyleId>{5C22544A-7EE6-4342-B048-85BDC9FD1C3A}</a:tableStyleId>
              </a:tblPr>
              <a:tblGrid>
                <a:gridCol w="1113560">
                  <a:extLst>
                    <a:ext uri="{9D8B030D-6E8A-4147-A177-3AD203B41FA5}">
                      <a16:colId xmlns:a16="http://schemas.microsoft.com/office/drawing/2014/main" val="872731526"/>
                    </a:ext>
                  </a:extLst>
                </a:gridCol>
                <a:gridCol w="1113560">
                  <a:extLst>
                    <a:ext uri="{9D8B030D-6E8A-4147-A177-3AD203B41FA5}">
                      <a16:colId xmlns:a16="http://schemas.microsoft.com/office/drawing/2014/main" val="2338938600"/>
                    </a:ext>
                  </a:extLst>
                </a:gridCol>
                <a:gridCol w="888830">
                  <a:extLst>
                    <a:ext uri="{9D8B030D-6E8A-4147-A177-3AD203B41FA5}">
                      <a16:colId xmlns:a16="http://schemas.microsoft.com/office/drawing/2014/main" val="975140538"/>
                    </a:ext>
                  </a:extLst>
                </a:gridCol>
                <a:gridCol w="1338288">
                  <a:extLst>
                    <a:ext uri="{9D8B030D-6E8A-4147-A177-3AD203B41FA5}">
                      <a16:colId xmlns:a16="http://schemas.microsoft.com/office/drawing/2014/main" val="1702661655"/>
                    </a:ext>
                  </a:extLst>
                </a:gridCol>
              </a:tblGrid>
              <a:tr h="504046">
                <a:tc>
                  <a:txBody>
                    <a:bodyPr/>
                    <a:lstStyle/>
                    <a:p>
                      <a:pPr marL="0" marR="0" indent="182880" algn="just">
                        <a:lnSpc>
                          <a:spcPct val="95000"/>
                        </a:lnSpc>
                        <a:spcBef>
                          <a:spcPts val="0"/>
                        </a:spcBef>
                        <a:spcAft>
                          <a:spcPts val="600"/>
                        </a:spcAft>
                        <a:tabLst>
                          <a:tab pos="182880" algn="l"/>
                        </a:tabLst>
                      </a:pPr>
                      <a:r>
                        <a:rPr lang="en-IN" sz="1000" spc="-5">
                          <a:effectLst/>
                        </a:rPr>
                        <a:t>Process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1000" spc="-5" dirty="0">
                          <a:effectLst/>
                        </a:rPr>
                        <a:t>ALMs</a:t>
                      </a:r>
                      <a:endParaRPr lang="en-US" sz="1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1000" spc="-5" dirty="0">
                          <a:effectLst/>
                        </a:rPr>
                        <a:t>ALUTs</a:t>
                      </a:r>
                      <a:endParaRPr lang="en-US" sz="1000" spc="-5"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1000" spc="-5">
                          <a:effectLst/>
                        </a:rPr>
                        <a:t>Registers</a:t>
                      </a:r>
                      <a:endParaRPr lang="en-US" sz="1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721859012"/>
                  </a:ext>
                </a:extLst>
              </a:tr>
              <a:tr h="504046">
                <a:tc>
                  <a:txBody>
                    <a:bodyPr/>
                    <a:lstStyle/>
                    <a:p>
                      <a:pPr marL="0" marR="0" indent="182880" algn="just">
                        <a:lnSpc>
                          <a:spcPct val="95000"/>
                        </a:lnSpc>
                        <a:spcBef>
                          <a:spcPts val="0"/>
                        </a:spcBef>
                        <a:spcAft>
                          <a:spcPts val="600"/>
                        </a:spcAft>
                        <a:tabLst>
                          <a:tab pos="182880" algn="l"/>
                        </a:tabLst>
                      </a:pPr>
                      <a:r>
                        <a:rPr lang="en-IN" sz="1000" spc="-5">
                          <a:effectLst/>
                        </a:rPr>
                        <a:t>Synthesis</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1000" spc="-5">
                          <a:effectLst/>
                        </a:rPr>
                        <a:t>21,874</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1000" spc="-5">
                          <a:effectLst/>
                        </a:rPr>
                        <a:t>24,846</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182880" algn="just">
                        <a:lnSpc>
                          <a:spcPct val="95000"/>
                        </a:lnSpc>
                        <a:spcBef>
                          <a:spcPts val="0"/>
                        </a:spcBef>
                        <a:spcAft>
                          <a:spcPts val="600"/>
                        </a:spcAft>
                        <a:tabLst>
                          <a:tab pos="182880" algn="l"/>
                        </a:tabLst>
                      </a:pPr>
                      <a:r>
                        <a:rPr lang="en-IN" sz="1000" spc="-5">
                          <a:effectLst/>
                        </a:rPr>
                        <a:t>8,960</a:t>
                      </a:r>
                      <a:endParaRPr lang="en-US" sz="1000" spc="-5">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116355536"/>
                  </a:ext>
                </a:extLst>
              </a:tr>
              <a:tr h="252023">
                <a:tc>
                  <a:txBody>
                    <a:bodyPr/>
                    <a:lstStyle/>
                    <a:p>
                      <a:pPr marL="0" marR="0" indent="0" algn="ctr">
                        <a:lnSpc>
                          <a:spcPct val="95000"/>
                        </a:lnSpc>
                        <a:spcBef>
                          <a:spcPts val="0"/>
                        </a:spcBef>
                        <a:spcAft>
                          <a:spcPts val="600"/>
                        </a:spcAft>
                        <a:tabLst>
                          <a:tab pos="182880" algn="l"/>
                        </a:tabLst>
                      </a:pPr>
                      <a:r>
                        <a:rPr lang="en-IN" sz="1000" spc="-5">
                          <a:effectLst/>
                        </a:rPr>
                        <a:t>Fitter</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ctr">
                        <a:lnSpc>
                          <a:spcPct val="95000"/>
                        </a:lnSpc>
                        <a:spcBef>
                          <a:spcPts val="0"/>
                        </a:spcBef>
                        <a:spcAft>
                          <a:spcPts val="600"/>
                        </a:spcAft>
                        <a:tabLst>
                          <a:tab pos="182880" algn="l"/>
                        </a:tabLst>
                      </a:pPr>
                      <a:r>
                        <a:rPr lang="en-IN" sz="1000" spc="-5">
                          <a:effectLst/>
                        </a:rPr>
                        <a:t>19,734</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ctr">
                        <a:lnSpc>
                          <a:spcPct val="95000"/>
                        </a:lnSpc>
                        <a:spcBef>
                          <a:spcPts val="0"/>
                        </a:spcBef>
                        <a:spcAft>
                          <a:spcPts val="600"/>
                        </a:spcAft>
                        <a:tabLst>
                          <a:tab pos="182880" algn="l"/>
                        </a:tabLst>
                      </a:pPr>
                      <a:r>
                        <a:rPr lang="en-IN" sz="1000" spc="-5">
                          <a:effectLst/>
                        </a:rPr>
                        <a:t>24,847</a:t>
                      </a:r>
                      <a:endParaRPr lang="en-US" sz="1000" spc="-5">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indent="0" algn="ctr">
                        <a:lnSpc>
                          <a:spcPct val="95000"/>
                        </a:lnSpc>
                        <a:spcBef>
                          <a:spcPts val="0"/>
                        </a:spcBef>
                        <a:spcAft>
                          <a:spcPts val="600"/>
                        </a:spcAft>
                        <a:tabLst>
                          <a:tab pos="182880" algn="l"/>
                        </a:tabLst>
                      </a:pPr>
                      <a:r>
                        <a:rPr lang="en-IN" sz="1000" spc="-5" dirty="0">
                          <a:effectLst/>
                        </a:rPr>
                        <a:t>9,161</a:t>
                      </a:r>
                      <a:endParaRPr lang="en-US" sz="1000" spc="-5"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9885684"/>
                  </a:ext>
                </a:extLst>
              </a:tr>
            </a:tbl>
          </a:graphicData>
        </a:graphic>
      </p:graphicFrame>
      <p:sp>
        <p:nvSpPr>
          <p:cNvPr id="10" name="Rectangle 9">
            <a:extLst>
              <a:ext uri="{FF2B5EF4-FFF2-40B4-BE49-F238E27FC236}">
                <a16:creationId xmlns:a16="http://schemas.microsoft.com/office/drawing/2014/main" id="{93321ADF-970C-4F35-BB53-9A6FC0C99A76}"/>
              </a:ext>
            </a:extLst>
          </p:cNvPr>
          <p:cNvSpPr/>
          <p:nvPr/>
        </p:nvSpPr>
        <p:spPr>
          <a:xfrm>
            <a:off x="1042418" y="4315753"/>
            <a:ext cx="3792192" cy="338554"/>
          </a:xfrm>
          <a:prstGeom prst="rect">
            <a:avLst/>
          </a:prstGeom>
        </p:spPr>
        <p:txBody>
          <a:bodyPr wrap="non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Table II: Resource Utilizations - Spartan 07</a:t>
            </a:r>
            <a:endParaRPr lang="en-US" i="1" dirty="0">
              <a:solidFill>
                <a:srgbClr val="44546A"/>
              </a:solidFill>
              <a:effectLst/>
              <a:latin typeface="Times New Roman" panose="02020603050405020304" pitchFamily="18" charset="0"/>
              <a:ea typeface="SimSun" panose="02010600030101010101" pitchFamily="2" charset="-122"/>
            </a:endParaRPr>
          </a:p>
        </p:txBody>
      </p:sp>
      <p:sp>
        <p:nvSpPr>
          <p:cNvPr id="11" name="Rectangle 10">
            <a:extLst>
              <a:ext uri="{FF2B5EF4-FFF2-40B4-BE49-F238E27FC236}">
                <a16:creationId xmlns:a16="http://schemas.microsoft.com/office/drawing/2014/main" id="{842C830C-E765-435C-BDE9-9124D5E3E58D}"/>
              </a:ext>
            </a:extLst>
          </p:cNvPr>
          <p:cNvSpPr/>
          <p:nvPr/>
        </p:nvSpPr>
        <p:spPr>
          <a:xfrm>
            <a:off x="6859079" y="4300364"/>
            <a:ext cx="3895874" cy="338554"/>
          </a:xfrm>
          <a:prstGeom prst="rect">
            <a:avLst/>
          </a:prstGeom>
        </p:spPr>
        <p:txBody>
          <a:bodyPr wrap="non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Table III: Resource Utilization - Cyclone V E</a:t>
            </a:r>
            <a:endParaRPr lang="en-US" i="1" dirty="0">
              <a:solidFill>
                <a:srgbClr val="44546A"/>
              </a:solidFill>
              <a:effectLst/>
              <a:latin typeface="Times New Roman" panose="02020603050405020304" pitchFamily="18" charset="0"/>
              <a:ea typeface="SimSun" panose="02010600030101010101" pitchFamily="2" charset="-122"/>
            </a:endParaRPr>
          </a:p>
        </p:txBody>
      </p:sp>
      <p:pic>
        <p:nvPicPr>
          <p:cNvPr id="13" name="Picture 2" descr="File:Ieee blue.jpg - Wikimedia Commons">
            <a:extLst>
              <a:ext uri="{FF2B5EF4-FFF2-40B4-BE49-F238E27FC236}">
                <a16:creationId xmlns:a16="http://schemas.microsoft.com/office/drawing/2014/main" id="{C7FE1886-67AB-403E-B9A6-C3FD7ED45CF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750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a:xfrm>
            <a:off x="745836" y="285793"/>
            <a:ext cx="10515600" cy="1325563"/>
          </a:xfrm>
        </p:spPr>
        <p:txBody>
          <a:bodyPr>
            <a:normAutofit/>
          </a:bodyPr>
          <a:lstStyle/>
          <a:p>
            <a:r>
              <a:rPr lang="en-US" sz="3600" b="1">
                <a:latin typeface="+mn-lt"/>
              </a:rPr>
              <a:t>Simulation Analysis</a:t>
            </a:r>
            <a:endParaRPr lang="en-US" sz="3600" b="1" dirty="0">
              <a:latin typeface="+mn-lt"/>
            </a:endParaRP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304800" y="1579852"/>
            <a:ext cx="11757889" cy="4662199"/>
          </a:xfrm>
        </p:spPr>
        <p:txBody>
          <a:bodyPr>
            <a:normAutofit/>
          </a:bodyPr>
          <a:lstStyle/>
          <a:p>
            <a:pPr marL="457200" lvl="1" indent="0" fontAlgn="base">
              <a:buNone/>
            </a:pPr>
            <a:endParaRPr lang="en-US" sz="1800" b="1" i="1">
              <a:effectLst>
                <a:outerShdw sx="0" sy="0">
                  <a:srgbClr val="000000"/>
                </a:outerShdw>
              </a:effectLst>
            </a:endParaRPr>
          </a:p>
          <a:p>
            <a:pPr marL="457200" lvl="1" indent="0" fontAlgn="base">
              <a:buNone/>
            </a:pPr>
            <a:endParaRPr lang="en-IN" sz="1800" dirty="0"/>
          </a:p>
        </p:txBody>
      </p:sp>
      <p:pic>
        <p:nvPicPr>
          <p:cNvPr id="12" name="Picture 11" descr="C:\Users\kumar\Downloads\WhatsApp Image 2022-01-29 at 15.29.30 (1).tiff">
            <a:extLst>
              <a:ext uri="{FF2B5EF4-FFF2-40B4-BE49-F238E27FC236}">
                <a16:creationId xmlns:a16="http://schemas.microsoft.com/office/drawing/2014/main" id="{784C472C-F6CA-4624-B2F1-4CDA45DFE80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233661" y="1611356"/>
            <a:ext cx="2414703" cy="4119994"/>
          </a:xfrm>
          <a:prstGeom prst="rect">
            <a:avLst/>
          </a:prstGeom>
          <a:noFill/>
          <a:ln>
            <a:noFill/>
          </a:ln>
        </p:spPr>
      </p:pic>
      <p:pic>
        <p:nvPicPr>
          <p:cNvPr id="13" name="Picture 12" descr="C:\Users\kumar\Downloads\Screenshot (15) (1).tiff">
            <a:extLst>
              <a:ext uri="{FF2B5EF4-FFF2-40B4-BE49-F238E27FC236}">
                <a16:creationId xmlns:a16="http://schemas.microsoft.com/office/drawing/2014/main" id="{095F899E-F2AA-4F75-81E2-990042FAB34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351743" y="1611356"/>
            <a:ext cx="2383790" cy="4000500"/>
          </a:xfrm>
          <a:prstGeom prst="rect">
            <a:avLst/>
          </a:prstGeom>
          <a:noFill/>
          <a:ln>
            <a:noFill/>
          </a:ln>
        </p:spPr>
      </p:pic>
      <p:sp>
        <p:nvSpPr>
          <p:cNvPr id="2" name="Rectangle 1">
            <a:extLst>
              <a:ext uri="{FF2B5EF4-FFF2-40B4-BE49-F238E27FC236}">
                <a16:creationId xmlns:a16="http://schemas.microsoft.com/office/drawing/2014/main" id="{4F14A57D-A7E1-435B-9BB5-54E844C1B6BF}"/>
              </a:ext>
            </a:extLst>
          </p:cNvPr>
          <p:cNvSpPr/>
          <p:nvPr/>
        </p:nvSpPr>
        <p:spPr>
          <a:xfrm>
            <a:off x="899243" y="6128069"/>
            <a:ext cx="4519186" cy="338554"/>
          </a:xfrm>
          <a:prstGeom prst="rect">
            <a:avLst/>
          </a:prstGeom>
        </p:spPr>
        <p:txBody>
          <a:bodyPr wrap="non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Fig. 5: Implemented Package Diagram – Spartan 07</a:t>
            </a:r>
            <a:endParaRPr lang="en-US" i="1" dirty="0">
              <a:solidFill>
                <a:srgbClr val="44546A"/>
              </a:solidFill>
              <a:effectLst/>
              <a:latin typeface="Times New Roman" panose="02020603050405020304" pitchFamily="18" charset="0"/>
              <a:ea typeface="SimSun" panose="02010600030101010101" pitchFamily="2" charset="-122"/>
            </a:endParaRPr>
          </a:p>
        </p:txBody>
      </p:sp>
      <p:sp>
        <p:nvSpPr>
          <p:cNvPr id="3" name="Rectangle 2">
            <a:extLst>
              <a:ext uri="{FF2B5EF4-FFF2-40B4-BE49-F238E27FC236}">
                <a16:creationId xmlns:a16="http://schemas.microsoft.com/office/drawing/2014/main" id="{ED6CBF11-9067-4A86-9515-1FD2EE022603}"/>
              </a:ext>
            </a:extLst>
          </p:cNvPr>
          <p:cNvSpPr/>
          <p:nvPr/>
        </p:nvSpPr>
        <p:spPr>
          <a:xfrm>
            <a:off x="6438148" y="6115676"/>
            <a:ext cx="4065024" cy="338554"/>
          </a:xfrm>
          <a:prstGeom prst="rect">
            <a:avLst/>
          </a:prstGeom>
        </p:spPr>
        <p:txBody>
          <a:bodyPr wrap="none">
            <a:spAutoFit/>
          </a:bodyPr>
          <a:lstStyle/>
          <a:p>
            <a:pPr algn="ctr">
              <a:spcAft>
                <a:spcPts val="1000"/>
              </a:spcAft>
            </a:pPr>
            <a:r>
              <a:rPr lang="en-US" sz="1600" i="1" dirty="0">
                <a:solidFill>
                  <a:srgbClr val="44546A"/>
                </a:solidFill>
                <a:latin typeface="Times New Roman" panose="02020603050405020304" pitchFamily="18" charset="0"/>
                <a:ea typeface="SimSun" panose="02010600030101010101" pitchFamily="2" charset="-122"/>
              </a:rPr>
              <a:t>Fig. 6: Fitted Package Diagram – Cyclone V E</a:t>
            </a:r>
            <a:endParaRPr lang="en-US" i="1" dirty="0">
              <a:solidFill>
                <a:srgbClr val="44546A"/>
              </a:solidFill>
              <a:effectLst/>
              <a:latin typeface="Times New Roman" panose="02020603050405020304" pitchFamily="18" charset="0"/>
              <a:ea typeface="SimSun" panose="02010600030101010101" pitchFamily="2" charset="-122"/>
            </a:endParaRPr>
          </a:p>
        </p:txBody>
      </p:sp>
      <p:pic>
        <p:nvPicPr>
          <p:cNvPr id="14" name="Picture 2" descr="File:Ieee blue.jpg - Wikimedia Commons">
            <a:extLst>
              <a:ext uri="{FF2B5EF4-FFF2-40B4-BE49-F238E27FC236}">
                <a16:creationId xmlns:a16="http://schemas.microsoft.com/office/drawing/2014/main" id="{BBCBB1C6-53E9-4320-92CA-CEC52EC318F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0590424" y="6203146"/>
            <a:ext cx="1404666" cy="50216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285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a:xfrm>
            <a:off x="426293" y="174032"/>
            <a:ext cx="10175631" cy="1111843"/>
          </a:xfrm>
        </p:spPr>
        <p:txBody>
          <a:bodyPr anchor="ctr">
            <a:normAutofit/>
          </a:bodyPr>
          <a:lstStyle/>
          <a:p>
            <a:pPr algn="ctr"/>
            <a:r>
              <a:rPr lang="en-US" sz="4000" b="1" dirty="0">
                <a:latin typeface="+mn-lt"/>
              </a:rPr>
              <a:t>Simulation Analysis</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1008184" y="1459907"/>
            <a:ext cx="10175630" cy="767904"/>
          </a:xfrm>
        </p:spPr>
        <p:txBody>
          <a:bodyPr anchor="ctr">
            <a:normAutofit/>
          </a:bodyPr>
          <a:lstStyle/>
          <a:p>
            <a:pPr marL="457200" lvl="1" indent="0" algn="ctr" fontAlgn="base">
              <a:buNone/>
            </a:pPr>
            <a:endParaRPr lang="en-US" sz="2000" b="1" i="1">
              <a:effectLst>
                <a:outerShdw sx="0" sy="0">
                  <a:srgbClr val="000000"/>
                </a:outerShdw>
              </a:effectLst>
            </a:endParaRPr>
          </a:p>
          <a:p>
            <a:pPr marL="457200" lvl="1" indent="0" algn="ctr" fontAlgn="base">
              <a:buNone/>
            </a:pPr>
            <a:endParaRPr lang="en-IN" sz="2000"/>
          </a:p>
        </p:txBody>
      </p:sp>
      <p:pic>
        <p:nvPicPr>
          <p:cNvPr id="8" name="Picture 7">
            <a:extLst>
              <a:ext uri="{FF2B5EF4-FFF2-40B4-BE49-F238E27FC236}">
                <a16:creationId xmlns:a16="http://schemas.microsoft.com/office/drawing/2014/main" id="{56CA1705-0B38-4531-8750-08E71323BC1C}"/>
              </a:ext>
            </a:extLst>
          </p:cNvPr>
          <p:cNvPicPr/>
          <p:nvPr/>
        </p:nvPicPr>
        <p:blipFill rotWithShape="1">
          <a:blip r:embed="rId2">
            <a:extLst>
              <a:ext uri="{28A0092B-C50C-407E-A947-70E740481C1C}">
                <a14:useLocalDpi xmlns:a14="http://schemas.microsoft.com/office/drawing/2010/main" val="0"/>
              </a:ext>
            </a:extLst>
          </a:blip>
          <a:srcRect l="40691" t="12435" r="33826" b="62398"/>
          <a:stretch/>
        </p:blipFill>
        <p:spPr bwMode="auto">
          <a:xfrm>
            <a:off x="2269269" y="1514582"/>
            <a:ext cx="7019291" cy="3899393"/>
          </a:xfrm>
          <a:prstGeom prst="rect">
            <a:avLst/>
          </a:prstGeom>
          <a:extLst>
            <a:ext uri="{53640926-AAD7-44D8-BBD7-CCE9431645EC}">
              <a14:shadowObscured xmlns:a14="http://schemas.microsoft.com/office/drawing/2010/main"/>
            </a:ext>
          </a:extLst>
        </p:spPr>
      </p:pic>
      <p:sp>
        <p:nvSpPr>
          <p:cNvPr id="4" name="Rectangle 3">
            <a:extLst>
              <a:ext uri="{FF2B5EF4-FFF2-40B4-BE49-F238E27FC236}">
                <a16:creationId xmlns:a16="http://schemas.microsoft.com/office/drawing/2014/main" id="{9D8E1F46-9990-4D45-A4DE-EB74B4893F94}"/>
              </a:ext>
            </a:extLst>
          </p:cNvPr>
          <p:cNvSpPr/>
          <p:nvPr/>
        </p:nvSpPr>
        <p:spPr>
          <a:xfrm>
            <a:off x="3455452" y="5951321"/>
            <a:ext cx="5278048" cy="369332"/>
          </a:xfrm>
          <a:prstGeom prst="rect">
            <a:avLst/>
          </a:prstGeom>
        </p:spPr>
        <p:txBody>
          <a:bodyPr wrap="none">
            <a:spAutoFit/>
          </a:bodyPr>
          <a:lstStyle/>
          <a:p>
            <a:pPr algn="ctr">
              <a:spcAft>
                <a:spcPts val="1000"/>
              </a:spcAft>
            </a:pPr>
            <a:r>
              <a:rPr lang="en-US" i="1" dirty="0">
                <a:solidFill>
                  <a:srgbClr val="44546A"/>
                </a:solidFill>
                <a:latin typeface="Times New Roman" panose="02020603050405020304" pitchFamily="18" charset="0"/>
                <a:ea typeface="SimSun" panose="02010600030101010101" pitchFamily="2" charset="-122"/>
              </a:rPr>
              <a:t>Fig.7: On-Chip Power Analysis XC7S100-676FGGA-2</a:t>
            </a:r>
            <a:endParaRPr lang="en-US" sz="2000" i="1" dirty="0">
              <a:solidFill>
                <a:srgbClr val="44546A"/>
              </a:solidFill>
              <a:effectLst/>
              <a:latin typeface="Times New Roman" panose="02020603050405020304" pitchFamily="18" charset="0"/>
              <a:ea typeface="SimSun" panose="02010600030101010101" pitchFamily="2" charset="-122"/>
            </a:endParaRPr>
          </a:p>
        </p:txBody>
      </p:sp>
      <p:pic>
        <p:nvPicPr>
          <p:cNvPr id="11" name="Picture 2" descr="File:Ieee blue.jpg - Wikimedia Commons">
            <a:extLst>
              <a:ext uri="{FF2B5EF4-FFF2-40B4-BE49-F238E27FC236}">
                <a16:creationId xmlns:a16="http://schemas.microsoft.com/office/drawing/2014/main" id="{7A7E4D87-BBF2-4670-AECA-EAE9142BFD9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665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a:xfrm>
            <a:off x="-471055" y="609600"/>
            <a:ext cx="9004033" cy="473075"/>
          </a:xfrm>
        </p:spPr>
        <p:txBody>
          <a:bodyPr anchor="ctr">
            <a:normAutofit fontScale="90000"/>
          </a:bodyPr>
          <a:lstStyle/>
          <a:p>
            <a:pPr algn="ctr"/>
            <a:r>
              <a:rPr lang="en-US" sz="4000" b="1" dirty="0">
                <a:latin typeface="+mn-lt"/>
              </a:rPr>
              <a:t>Simulation Analysis</a:t>
            </a:r>
          </a:p>
        </p:txBody>
      </p:sp>
      <p:pic>
        <p:nvPicPr>
          <p:cNvPr id="7" name="Picture 6">
            <a:extLst>
              <a:ext uri="{FF2B5EF4-FFF2-40B4-BE49-F238E27FC236}">
                <a16:creationId xmlns:a16="http://schemas.microsoft.com/office/drawing/2014/main" id="{46B68C73-98A3-423C-BBBE-C0BE967EA13A}"/>
              </a:ext>
            </a:extLst>
          </p:cNvPr>
          <p:cNvPicPr/>
          <p:nvPr/>
        </p:nvPicPr>
        <p:blipFill rotWithShape="1">
          <a:blip r:embed="rId2" cstate="print">
            <a:extLst>
              <a:ext uri="{28A0092B-C50C-407E-A947-70E740481C1C}">
                <a14:useLocalDpi xmlns:a14="http://schemas.microsoft.com/office/drawing/2010/main" val="0"/>
              </a:ext>
            </a:extLst>
          </a:blip>
          <a:srcRect t="5475" b="5717"/>
          <a:stretch/>
        </p:blipFill>
        <p:spPr bwMode="auto">
          <a:xfrm>
            <a:off x="1569585" y="1501671"/>
            <a:ext cx="8416411" cy="3755922"/>
          </a:xfrm>
          <a:prstGeom prst="rect">
            <a:avLst/>
          </a:prstGeom>
          <a:ln>
            <a:noFill/>
          </a:ln>
          <a:extLst>
            <a:ext uri="{53640926-AAD7-44D8-BBD7-CCE9431645EC}">
              <a14:shadowObscured xmlns:a14="http://schemas.microsoft.com/office/drawing/2010/main"/>
            </a:ext>
          </a:extLst>
        </p:spPr>
      </p:pic>
      <p:sp>
        <p:nvSpPr>
          <p:cNvPr id="2" name="Rectangle 1">
            <a:extLst>
              <a:ext uri="{FF2B5EF4-FFF2-40B4-BE49-F238E27FC236}">
                <a16:creationId xmlns:a16="http://schemas.microsoft.com/office/drawing/2014/main" id="{7F6D65A4-9BDF-440A-9DB8-CFDE83EBDA68}"/>
              </a:ext>
            </a:extLst>
          </p:cNvPr>
          <p:cNvSpPr/>
          <p:nvPr/>
        </p:nvSpPr>
        <p:spPr>
          <a:xfrm>
            <a:off x="2914518" y="5734631"/>
            <a:ext cx="6096000" cy="646331"/>
          </a:xfrm>
          <a:prstGeom prst="rect">
            <a:avLst/>
          </a:prstGeom>
        </p:spPr>
        <p:txBody>
          <a:bodyPr>
            <a:spAutoFit/>
          </a:bodyPr>
          <a:lstStyle/>
          <a:p>
            <a:r>
              <a:rPr lang="en-US" i="1" dirty="0">
                <a:latin typeface="Times New Roman" panose="02020603050405020304" pitchFamily="18" charset="0"/>
                <a:ea typeface="SimSun" panose="02010600030101010101" pitchFamily="2" charset="-122"/>
              </a:rPr>
              <a:t>Fig. 8: XADC Monitor Dashboard – Spartan 07 SP701 Evaluation Board</a:t>
            </a:r>
            <a:endParaRPr lang="en-US" i="1" dirty="0"/>
          </a:p>
        </p:txBody>
      </p:sp>
      <p:pic>
        <p:nvPicPr>
          <p:cNvPr id="9" name="Picture 2" descr="File:Ieee blue.jpg - Wikimedia Commons">
            <a:extLst>
              <a:ext uri="{FF2B5EF4-FFF2-40B4-BE49-F238E27FC236}">
                <a16:creationId xmlns:a16="http://schemas.microsoft.com/office/drawing/2014/main" id="{DD361E57-370D-4B39-809A-3B115940FF6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74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Conclusion and Future Scope</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217055" y="1561379"/>
            <a:ext cx="11757889" cy="4662199"/>
          </a:xfrm>
        </p:spPr>
        <p:txBody>
          <a:bodyPr>
            <a:normAutofit/>
          </a:bodyPr>
          <a:lstStyle/>
          <a:p>
            <a:pPr marL="457200" lvl="1" indent="0" fontAlgn="base">
              <a:buNone/>
            </a:pPr>
            <a:r>
              <a:rPr lang="en-US" sz="2000" b="1" i="1" dirty="0">
                <a:effectLst>
                  <a:outerShdw sx="0" sy="0">
                    <a:srgbClr val="000000"/>
                  </a:outerShdw>
                </a:effectLst>
              </a:rPr>
              <a:t>Conclusion</a:t>
            </a:r>
          </a:p>
          <a:p>
            <a:r>
              <a:rPr lang="en-US" sz="2000" dirty="0"/>
              <a:t>Miniaturization of core-intelligent devices capable of parallel processing with highly-pipelined architecture that are optimized to handle CPU-intensive operations enabling scalable high throughput applications with higher-bandwidth. </a:t>
            </a:r>
          </a:p>
          <a:p>
            <a:endParaRPr lang="en-US" sz="2000" dirty="0"/>
          </a:p>
          <a:p>
            <a:r>
              <a:rPr lang="en-US" sz="2000" dirty="0"/>
              <a:t>Nokia Wrist - Attached Sensor Platform (NWSP) is one example of a first generation high – density FPGA device applications for wearables with various drawbacks in terms of overall-device size and large power – consumption and leakage currents [7]. </a:t>
            </a:r>
          </a:p>
          <a:p>
            <a:endParaRPr lang="en-US" sz="2000" dirty="0"/>
          </a:p>
          <a:p>
            <a:r>
              <a:rPr lang="en-US" sz="2000" dirty="0"/>
              <a:t>The MicroWIP325 is designed to overcome all of these disadvantages with the current technology we have at hand. Application-Specific Integrated Circuit (ASIC) Implementation and Fabrication of the MicroWIP325 design would enhance </a:t>
            </a:r>
            <a:r>
              <a:rPr lang="en-IN" sz="2000" dirty="0"/>
              <a:t>power and size reduction even further. </a:t>
            </a:r>
          </a:p>
          <a:p>
            <a:endParaRPr lang="en-IN" sz="4400" dirty="0"/>
          </a:p>
        </p:txBody>
      </p:sp>
      <p:pic>
        <p:nvPicPr>
          <p:cNvPr id="4" name="Picture 2" descr="File:Ieee blue.jpg - Wikimedia Commons">
            <a:extLst>
              <a:ext uri="{FF2B5EF4-FFF2-40B4-BE49-F238E27FC236}">
                <a16:creationId xmlns:a16="http://schemas.microsoft.com/office/drawing/2014/main" id="{02B7C580-C224-4DB8-91B4-BB686D297AA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821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Conclusion and Future Scope</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193965" y="1403928"/>
            <a:ext cx="11785598" cy="4948960"/>
          </a:xfrm>
        </p:spPr>
        <p:txBody>
          <a:bodyPr>
            <a:normAutofit/>
          </a:bodyPr>
          <a:lstStyle/>
          <a:p>
            <a:pPr marL="457200" lvl="1" indent="0" fontAlgn="base">
              <a:buNone/>
            </a:pPr>
            <a:r>
              <a:rPr lang="en-US" sz="2000" b="1" i="1" dirty="0">
                <a:effectLst>
                  <a:outerShdw sx="0" sy="0">
                    <a:srgbClr val="000000"/>
                  </a:outerShdw>
                </a:effectLst>
              </a:rPr>
              <a:t>Conclusion</a:t>
            </a:r>
          </a:p>
          <a:p>
            <a:pPr marL="457200" lvl="1" indent="0" fontAlgn="base">
              <a:buNone/>
            </a:pPr>
            <a:endParaRPr lang="en-IN" sz="1800" dirty="0"/>
          </a:p>
          <a:p>
            <a:pPr lvl="1" fontAlgn="base"/>
            <a:r>
              <a:rPr lang="en-IN" sz="1800" dirty="0"/>
              <a:t>The LUTs utilized post – implementation / fitter by the Cyclone V E is higher by 34.11% in comparison to the Spartan – 07 FPGA in spite the fact that the Cyclone V E FPGA has higher input LUTs in a CLB, thus increasing the utilized area.</a:t>
            </a:r>
          </a:p>
          <a:p>
            <a:pPr lvl="1" fontAlgn="base"/>
            <a:r>
              <a:rPr lang="en-IN" sz="1800" dirty="0"/>
              <a:t> </a:t>
            </a:r>
          </a:p>
          <a:p>
            <a:pPr lvl="1" fontAlgn="base"/>
            <a:r>
              <a:rPr lang="en-IN" sz="1800" dirty="0"/>
              <a:t>The synthesis and implementation engine strategy approaches of these two chip Original Equipment Manufacturers (OEM) vary widely. The end goal is essentially similar. </a:t>
            </a:r>
          </a:p>
          <a:p>
            <a:pPr lvl="1" fontAlgn="base"/>
            <a:endParaRPr lang="en-IN" sz="1800" dirty="0"/>
          </a:p>
          <a:p>
            <a:pPr lvl="1" fontAlgn="base"/>
            <a:r>
              <a:rPr lang="en-IN" sz="1800" dirty="0"/>
              <a:t>The approach taken in this paper for Xilinx FPGA synthesis and implementation is area-optimization followed by performance-improvisation respectively.</a:t>
            </a:r>
          </a:p>
          <a:p>
            <a:pPr lvl="1" fontAlgn="base"/>
            <a:endParaRPr lang="en-IN" sz="1800" dirty="0"/>
          </a:p>
          <a:p>
            <a:pPr lvl="1" fontAlgn="base"/>
            <a:r>
              <a:rPr lang="en-IN" sz="1800" dirty="0"/>
              <a:t> Whereas the approach is vice-versa for Intel FPGA synthesis and implementation. Xilinx FPGAs are also cost-effective on a head-to-head comparison with Intel FPGAs, although this depends on market scenarios given the fact about the current semi-conductor chip shortage crisis.</a:t>
            </a:r>
            <a:endParaRPr lang="en-US" sz="1800" b="1" i="1" dirty="0">
              <a:effectLst>
                <a:outerShdw sx="0" sy="0">
                  <a:srgbClr val="000000"/>
                </a:outerShdw>
              </a:effectLst>
            </a:endParaRPr>
          </a:p>
        </p:txBody>
      </p:sp>
      <p:pic>
        <p:nvPicPr>
          <p:cNvPr id="4" name="Picture 2" descr="File:Ieee blue.jpg - Wikimedia Commons">
            <a:extLst>
              <a:ext uri="{FF2B5EF4-FFF2-40B4-BE49-F238E27FC236}">
                <a16:creationId xmlns:a16="http://schemas.microsoft.com/office/drawing/2014/main" id="{CF5A7FA2-B0BE-4E5A-BBC4-9D0C730C367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680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Conclusion and Future Scope</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193965" y="1403928"/>
            <a:ext cx="11785598" cy="4948960"/>
          </a:xfrm>
        </p:spPr>
        <p:txBody>
          <a:bodyPr>
            <a:normAutofit/>
          </a:bodyPr>
          <a:lstStyle/>
          <a:p>
            <a:pPr marL="457200" lvl="1" indent="0" fontAlgn="base">
              <a:buNone/>
            </a:pPr>
            <a:r>
              <a:rPr lang="en-US" sz="1800" b="1" i="1" dirty="0">
                <a:effectLst>
                  <a:outerShdw sx="0" sy="0">
                    <a:srgbClr val="000000"/>
                  </a:outerShdw>
                </a:effectLst>
              </a:rPr>
              <a:t>Future Scope</a:t>
            </a:r>
          </a:p>
          <a:p>
            <a:r>
              <a:rPr lang="en-IN" sz="2000" dirty="0"/>
              <a:t>This design has been exported into a soft-core Intellectual Property (IP) MIPS processor, which can be efficient in terms of design modularity and reuse.</a:t>
            </a:r>
          </a:p>
          <a:p>
            <a:endParaRPr lang="en-IN" sz="2000" dirty="0"/>
          </a:p>
          <a:p>
            <a:r>
              <a:rPr lang="en-IN" sz="2000" dirty="0"/>
              <a:t> Xilinx Vivado IP Packager generates the soft-core IP configuration from the developed model rendering faster product design lifecycles. </a:t>
            </a:r>
          </a:p>
          <a:p>
            <a:endParaRPr lang="en-IN" sz="2000" dirty="0"/>
          </a:p>
          <a:p>
            <a:r>
              <a:rPr lang="en-IN" sz="2000" dirty="0"/>
              <a:t>Memory &amp; Instruction files can be embedded into the processor based upon the goals and needs of the user. </a:t>
            </a:r>
            <a:endParaRPr lang="en-US" sz="2000" dirty="0"/>
          </a:p>
          <a:p>
            <a:r>
              <a:rPr lang="en-IN" sz="2000" dirty="0"/>
              <a:t>Double-Issue Datapath Architecture would be an upgrade to the implementation in execution of instructions at nearly half the number of clock cycles required by the current architecture, however it would increase the number of current resources utilized [8].</a:t>
            </a:r>
            <a:endParaRPr lang="en-US" sz="2000" dirty="0"/>
          </a:p>
          <a:p>
            <a:pPr marL="457200" lvl="1" indent="0" fontAlgn="base">
              <a:buNone/>
            </a:pPr>
            <a:endParaRPr lang="en-US" sz="1800" b="1" i="1" dirty="0">
              <a:effectLst>
                <a:outerShdw sx="0" sy="0">
                  <a:srgbClr val="000000"/>
                </a:outerShdw>
              </a:effectLst>
            </a:endParaRPr>
          </a:p>
        </p:txBody>
      </p:sp>
      <p:pic>
        <p:nvPicPr>
          <p:cNvPr id="4" name="Picture 2" descr="File:Ieee blue.jpg - Wikimedia Commons">
            <a:extLst>
              <a:ext uri="{FF2B5EF4-FFF2-40B4-BE49-F238E27FC236}">
                <a16:creationId xmlns:a16="http://schemas.microsoft.com/office/drawing/2014/main" id="{C502C4CC-71E4-4BFC-AC70-45517E78647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407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DD165-CC0C-4D2E-9008-56259C766FFE}"/>
              </a:ext>
            </a:extLst>
          </p:cNvPr>
          <p:cNvSpPr>
            <a:spLocks noGrp="1"/>
          </p:cNvSpPr>
          <p:nvPr>
            <p:ph type="title"/>
          </p:nvPr>
        </p:nvSpPr>
        <p:spPr/>
        <p:txBody>
          <a:bodyPr>
            <a:normAutofit/>
          </a:bodyPr>
          <a:lstStyle/>
          <a:p>
            <a:r>
              <a:rPr lang="en-US" sz="3600" b="1" dirty="0">
                <a:latin typeface="+mn-lt"/>
              </a:rPr>
              <a:t>Conclusion and Future Scope</a:t>
            </a:r>
          </a:p>
        </p:txBody>
      </p:sp>
      <p:sp>
        <p:nvSpPr>
          <p:cNvPr id="27" name="Content Placeholder 2">
            <a:extLst>
              <a:ext uri="{FF2B5EF4-FFF2-40B4-BE49-F238E27FC236}">
                <a16:creationId xmlns:a16="http://schemas.microsoft.com/office/drawing/2014/main" id="{8EBBBB38-A3DB-4911-85D0-9E6296927AC9}"/>
              </a:ext>
            </a:extLst>
          </p:cNvPr>
          <p:cNvSpPr>
            <a:spLocks noGrp="1"/>
          </p:cNvSpPr>
          <p:nvPr>
            <p:ph idx="1"/>
          </p:nvPr>
        </p:nvSpPr>
        <p:spPr>
          <a:xfrm>
            <a:off x="193965" y="1403928"/>
            <a:ext cx="11785598" cy="4948960"/>
          </a:xfrm>
        </p:spPr>
        <p:txBody>
          <a:bodyPr>
            <a:normAutofit/>
          </a:bodyPr>
          <a:lstStyle/>
          <a:p>
            <a:pPr marL="457200" lvl="1" indent="0" fontAlgn="base">
              <a:buNone/>
            </a:pPr>
            <a:r>
              <a:rPr lang="en-US" sz="1800" b="1" i="1" dirty="0">
                <a:effectLst>
                  <a:outerShdw sx="0" sy="0">
                    <a:srgbClr val="000000"/>
                  </a:outerShdw>
                </a:effectLst>
              </a:rPr>
              <a:t>Future Scope</a:t>
            </a:r>
          </a:p>
          <a:p>
            <a:r>
              <a:rPr lang="en-IN" sz="2000" dirty="0"/>
              <a:t>Partial Reconfigurability of the FPGA, where in a portion of the FPGA functions on the tasks, whereas the other segment reconfigures itself based upon the need for extensive computing activities. </a:t>
            </a:r>
          </a:p>
          <a:p>
            <a:r>
              <a:rPr lang="en-IN" sz="2000" dirty="0"/>
              <a:t>Although the power consumed by the device is in the range of 0.4W – 0.6W, the battery management system for the integrated control chip and the peripherals would be a Research and Development (R&amp;D) task at hand, keeping in mind the compact nature of the target device. </a:t>
            </a:r>
            <a:endParaRPr lang="en-US" sz="2000" dirty="0"/>
          </a:p>
          <a:p>
            <a:pPr marL="0" indent="0">
              <a:buNone/>
            </a:pPr>
            <a:br>
              <a:rPr lang="en-IN" dirty="0"/>
            </a:br>
            <a:endParaRPr lang="en-US" sz="5400" b="1" i="1" dirty="0">
              <a:effectLst>
                <a:outerShdw sx="0" sy="0">
                  <a:srgbClr val="000000"/>
                </a:outerShdw>
              </a:effectLst>
            </a:endParaRPr>
          </a:p>
        </p:txBody>
      </p:sp>
      <p:pic>
        <p:nvPicPr>
          <p:cNvPr id="4" name="Picture 2" descr="File:Ieee blue.jpg - Wikimedia Commons">
            <a:extLst>
              <a:ext uri="{FF2B5EF4-FFF2-40B4-BE49-F238E27FC236}">
                <a16:creationId xmlns:a16="http://schemas.microsoft.com/office/drawing/2014/main" id="{36D050A6-B08C-42F0-9273-ACFCB3BB818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950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3E30-BA9F-40E3-ABB1-699572241609}"/>
              </a:ext>
            </a:extLst>
          </p:cNvPr>
          <p:cNvSpPr>
            <a:spLocks noGrp="1"/>
          </p:cNvSpPr>
          <p:nvPr>
            <p:ph type="title"/>
          </p:nvPr>
        </p:nvSpPr>
        <p:spPr/>
        <p:txBody>
          <a:bodyPr>
            <a:normAutofit/>
          </a:bodyPr>
          <a:lstStyle/>
          <a:p>
            <a:r>
              <a:rPr lang="en-US" sz="3600" b="1" dirty="0">
                <a:latin typeface="+mn-lt"/>
              </a:rPr>
              <a:t>References</a:t>
            </a:r>
          </a:p>
        </p:txBody>
      </p:sp>
      <p:sp>
        <p:nvSpPr>
          <p:cNvPr id="3" name="Content Placeholder 2">
            <a:extLst>
              <a:ext uri="{FF2B5EF4-FFF2-40B4-BE49-F238E27FC236}">
                <a16:creationId xmlns:a16="http://schemas.microsoft.com/office/drawing/2014/main" id="{5D1BE417-4D9B-44EF-8544-13BE06C16CF7}"/>
              </a:ext>
            </a:extLst>
          </p:cNvPr>
          <p:cNvSpPr>
            <a:spLocks noGrp="1"/>
          </p:cNvSpPr>
          <p:nvPr>
            <p:ph idx="1"/>
          </p:nvPr>
        </p:nvSpPr>
        <p:spPr>
          <a:xfrm>
            <a:off x="711200" y="1588655"/>
            <a:ext cx="10642600" cy="4588308"/>
          </a:xfrm>
        </p:spPr>
        <p:txBody>
          <a:bodyPr>
            <a:normAutofit fontScale="55000" lnSpcReduction="20000"/>
          </a:bodyPr>
          <a:lstStyle/>
          <a:p>
            <a:pPr lvl="0"/>
            <a:r>
              <a:rPr lang="en-US" sz="2900" dirty="0"/>
              <a:t>Xin Wu and Prabhuram Gopalan, “Xilinx Next Generation 28 nm FPGA Technology Overview,” WP312 (v1.1.1), Xilinx Inc., July 23, 2013.</a:t>
            </a:r>
          </a:p>
          <a:p>
            <a:pPr lvl="0"/>
            <a:r>
              <a:rPr lang="en-US" sz="2900" dirty="0"/>
              <a:t>Nick Mehta, “Xilinx 7 Series FPGAs: The Logical Advantage,” WP405 (v1.0), Xilinx Inc., March 06, 2012.</a:t>
            </a:r>
          </a:p>
          <a:p>
            <a:pPr lvl="0"/>
            <a:r>
              <a:rPr lang="en-US" sz="2900" dirty="0"/>
              <a:t>Altera Inc, “Cyclone V Device Handbook: Volume 1: Device Overview and Datasheet,” CV-5V1-1.2, February 2012.</a:t>
            </a:r>
          </a:p>
          <a:p>
            <a:pPr lvl="0"/>
            <a:r>
              <a:rPr lang="en-US" sz="2900" dirty="0"/>
              <a:t>S. S. Omran and A. K. Abdul-</a:t>
            </a:r>
            <a:r>
              <a:rPr lang="en-US" sz="2900" dirty="0" err="1"/>
              <a:t>abbas</a:t>
            </a:r>
            <a:r>
              <a:rPr lang="en-US" sz="2900" dirty="0"/>
              <a:t>, "Design and implementation of 32-Bits MIPS processor to Perform QRD Based on FPGA," 2018 International Conference on Engineering Technology and their Applications (IICETA), 2018, pp. 36-41, doi: 10.1109/IICETA.2018.8458073. </a:t>
            </a:r>
          </a:p>
          <a:p>
            <a:pPr lvl="0"/>
            <a:r>
              <a:rPr lang="en-US" sz="2900" dirty="0"/>
              <a:t>S. S. Omran and L. F. Jumma, "Design of SHA-1 &amp; SHA-2 MIPS processor using FPGA," 2017 Annual Conference on New Trends in Information &amp; Communications Technology Applications (NTICT), 2017, pp. 268-273, doi: 10.1109/NTICT.2017.7976113.</a:t>
            </a:r>
          </a:p>
          <a:p>
            <a:pPr lvl="0"/>
            <a:r>
              <a:rPr lang="en-US" sz="2900" dirty="0"/>
              <a:t>Xilinx Inc, “Floorplanning Methodology Guide,” UG633 (v14.5), April 10, 2013.</a:t>
            </a:r>
          </a:p>
          <a:p>
            <a:pPr lvl="0"/>
            <a:r>
              <a:rPr lang="en-US" sz="2900" dirty="0"/>
              <a:t>T. Ahola, P. Korpinen, J. Rakkola, T. Ramo, J. Salminen and J. Savolainen, "Wearable FPGA Based Wireless Sensor Platform," 2007 29th Annual International Conference of the IEEE Engineering in Medicine and Biology Society, 2007, pp. 2288-2291, doi: 10.1109/IEMBS.2007.4352782.</a:t>
            </a:r>
          </a:p>
          <a:p>
            <a:pPr lvl="0"/>
            <a:r>
              <a:rPr lang="en-US" sz="2900" dirty="0"/>
              <a:t>Tyson, A. L. Romas, S. Intan P and T. Adiono, "A pipelined double-issue MIPS based processor architecture," 2009 International Symposium on Intelligent Signal Processing and Communication Systems (ISPACS), 2009, pp. 583-586, doi: 10.1109/ISPACS.2009.5383771.</a:t>
            </a:r>
          </a:p>
          <a:p>
            <a:pPr lvl="0"/>
            <a:r>
              <a:rPr lang="en-IN" sz="2900" dirty="0"/>
              <a:t>ELMO – Miniaturising Electronics 2002–2005”, </a:t>
            </a:r>
            <a:r>
              <a:rPr lang="en-IN" sz="2900" i="1" dirty="0"/>
              <a:t>Tekes Technology Programme Reports</a:t>
            </a:r>
            <a:r>
              <a:rPr lang="en-IN" sz="2900" dirty="0"/>
              <a:t>, 3/2006, ISBN 952-457-223-0,</a:t>
            </a:r>
            <a:endParaRPr lang="en-US" sz="2900" dirty="0"/>
          </a:p>
          <a:p>
            <a:pPr lvl="0"/>
            <a:r>
              <a:rPr lang="en-IN" sz="2900" dirty="0"/>
              <a:t>http://www.tekes.fi/julkaisut/ELMO.pdf.</a:t>
            </a:r>
            <a:endParaRPr lang="en-US" sz="2900" dirty="0"/>
          </a:p>
          <a:p>
            <a:pPr marL="0" indent="0">
              <a:buNone/>
            </a:pPr>
            <a:endParaRPr lang="en-US" dirty="0"/>
          </a:p>
          <a:p>
            <a:endParaRPr lang="en-US" dirty="0"/>
          </a:p>
        </p:txBody>
      </p:sp>
      <p:pic>
        <p:nvPicPr>
          <p:cNvPr id="4" name="Picture 2" descr="File:Ieee blue.jpg - Wikimedia Commons">
            <a:extLst>
              <a:ext uri="{FF2B5EF4-FFF2-40B4-BE49-F238E27FC236}">
                <a16:creationId xmlns:a16="http://schemas.microsoft.com/office/drawing/2014/main" id="{CC8FB0D0-8FF1-4D95-A16A-BB487EC0EB9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095874" y="5997257"/>
            <a:ext cx="1735908" cy="620587"/>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2884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2248</Words>
  <Application>Microsoft Office PowerPoint</Application>
  <PresentationFormat>Widescreen</PresentationFormat>
  <Paragraphs>201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MicroWIP325: A Low-Area Architectural Design and Analysis of Processors for Wearable Technologies. </vt:lpstr>
      <vt:lpstr>CONTENTS</vt:lpstr>
      <vt:lpstr>ABSTRACT</vt:lpstr>
      <vt:lpstr>OBJECTIVE</vt:lpstr>
      <vt:lpstr>INTRODUCTION</vt:lpstr>
      <vt:lpstr>System Architecture</vt:lpstr>
      <vt:lpstr>System Architecture</vt:lpstr>
      <vt:lpstr>System Architecture</vt:lpstr>
      <vt:lpstr>System Architecture</vt:lpstr>
      <vt:lpstr>System Architecture</vt:lpstr>
      <vt:lpstr>System Architecture</vt:lpstr>
      <vt:lpstr>Hardware Design and Development</vt:lpstr>
      <vt:lpstr>Simulation Analysis</vt:lpstr>
      <vt:lpstr>Simulation Analysis</vt:lpstr>
      <vt:lpstr>Simulation Analysis</vt:lpstr>
      <vt:lpstr>Simulation Analysis</vt:lpstr>
      <vt:lpstr>Simulation Analysis</vt:lpstr>
      <vt:lpstr>Simulation Analysis</vt:lpstr>
      <vt:lpstr>Simulation Analysis</vt:lpstr>
      <vt:lpstr>Simulation Analysis</vt:lpstr>
      <vt:lpstr>Conclusion and Future Scope</vt:lpstr>
      <vt:lpstr>Conclusion and Future Scope</vt:lpstr>
      <vt:lpstr>Conclusion and Future Scope</vt:lpstr>
      <vt:lpstr>Conclusion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MicroWIP325: A Low-Area Architectural Design and Analysis of Processors for Wearable Technologies</dc:title>
  <dc:creator>Deepak</dc:creator>
  <cp:lastModifiedBy>Benjamin Samuel</cp:lastModifiedBy>
  <cp:revision>6</cp:revision>
  <dcterms:created xsi:type="dcterms:W3CDTF">2022-03-09T09:00:06Z</dcterms:created>
  <dcterms:modified xsi:type="dcterms:W3CDTF">2025-11-22T05:54:34Z</dcterms:modified>
</cp:coreProperties>
</file>